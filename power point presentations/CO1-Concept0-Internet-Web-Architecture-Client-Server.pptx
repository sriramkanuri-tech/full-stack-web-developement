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5D257F3-502E-4244-BF2E-5066DCC1EF11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7BAD3E-A760-4563-AC89-4C592D077F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64E89A-3507-4929-8439-62D6E397F5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A2CE71-A7A9-42D9-A324-08C03538A5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E95F60-D59D-4777-91C1-F7111990F1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3A8D13-2492-4C95-B5FD-F158EAD361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0BCA58-3D31-4C20-900B-2325AA9ABE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7677BD-DCFA-4E48-87B5-2A067809ED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5F7C8B-3520-4BAA-9DC8-D03366EFB54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420808-9BEF-4869-B30F-06B207B419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C95C0-1C9E-4753-9F62-B4CCE9596D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B27935-A444-46B1-8206-D37FF0F671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44D1C5-72E4-4D34-AABF-56BC4504F8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D6678D-CA5C-480B-A25C-212222E8A5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2214C6-15B1-4E0F-8879-BC8B8AC94E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75231A-1638-4E98-83CB-2E6A60DE86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759960" y="4874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5a623"/>
                </a:solidFill>
                <a:latin typeface="Calibri"/>
                <a:ea typeface="Calibri"/>
              </a:rPr>
              <a:t>SIGNALDASH FOUNDATIONS · MODULE 1 · CONCEPT 0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31520" y="1251360"/>
            <a:ext cx="10515240" cy="28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4601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The Internet, Web Architecture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4601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&amp; the Client-Server Model</a:t>
            </a:r>
            <a:br>
              <a:rPr sz="4000"/>
            </a:br>
            <a:br>
              <a:rPr sz="4000"/>
            </a:b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Dr. Karumuri Sri Rama Murthy,</a:t>
            </a:r>
            <a:br>
              <a:rPr sz="4000"/>
            </a:b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CSE-KLEF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31520" y="434340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fa8c4"/>
                </a:solidFill>
                <a:latin typeface="Calibri"/>
                <a:ea typeface="Calibri"/>
              </a:rPr>
              <a:t>How a browser request finds its way to a server — and back —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fa8c4"/>
                </a:solidFill>
                <a:latin typeface="Calibri"/>
                <a:ea typeface="Calibri"/>
              </a:rPr>
              <a:t>before a single sensor reading ever reaches the SignalDash dashboard.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WHERE THIS FITS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Learning Objectives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548640" y="169164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548640" y="169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1234440" y="1618560"/>
            <a:ext cx="9966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293b"/>
                </a:solidFill>
                <a:latin typeface="Calibri"/>
                <a:ea typeface="Calibri"/>
              </a:rPr>
              <a:t>Define the Internet and explain how data physically travels between two machines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548640" y="265176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548640" y="2651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234440" y="2578680"/>
            <a:ext cx="9966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293b"/>
                </a:solidFill>
                <a:latin typeface="Calibri"/>
                <a:ea typeface="Calibri"/>
              </a:rPr>
              <a:t>Distinguish the Internet from the Web, and name the protocols that make each work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8"/>
          <p:cNvSpPr/>
          <p:nvPr/>
        </p:nvSpPr>
        <p:spPr>
          <a:xfrm>
            <a:off x="548640" y="361188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48640" y="36118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1234440" y="3538800"/>
            <a:ext cx="9966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293b"/>
                </a:solidFill>
                <a:latin typeface="Calibri"/>
                <a:ea typeface="Calibri"/>
              </a:rPr>
              <a:t>Explain the Client-Server model and trace a full request-response cycle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548640" y="457200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548640" y="4572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1234440" y="4498920"/>
            <a:ext cx="9966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17293b"/>
                </a:solidFill>
                <a:latin typeface="Calibri"/>
                <a:ea typeface="Calibri"/>
              </a:rPr>
              <a:t>Describe a three-tier web architecture using SignalDash as the running example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CORE CONCEPT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What Is the Internet?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548640" y="16002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Definition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548640" y="1965960"/>
            <a:ext cx="52117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293b"/>
                </a:solidFill>
                <a:latin typeface="Calibri"/>
                <a:ea typeface="Calibri"/>
              </a:rPr>
              <a:t>The Internet is a global network of interconnected computer networks that use a common set of rules (protocols) to exchange data. No single organization owns it — it is a network of networks, each agreeing to speak the same language.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6309360" y="160020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In SignalDash terms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6309360" y="1965960"/>
            <a:ext cx="530316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293b"/>
                </a:solidFill>
                <a:latin typeface="Calibri"/>
                <a:ea typeface="Calibri"/>
              </a:rPr>
              <a:t>Every temperature and vibration sensor on a factory floor is a small device on this network. The Internet is simply the physical and logical path that lets a sensor in one building reach the SignalDash server in another.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548640" y="580644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b7184"/>
                </a:solidFill>
                <a:latin typeface="Calibri"/>
                <a:ea typeface="Calibri"/>
              </a:rPr>
              <a:t>Note: “Internet” and “Web” are not the same thing — more on slide 6.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CORE CONCEPT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How Data Travels: Packet Switching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548640" y="1600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Definition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548640" y="1965960"/>
            <a:ext cx="11063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293b"/>
                </a:solidFill>
                <a:latin typeface="Calibri"/>
                <a:ea typeface="Calibri"/>
              </a:rPr>
              <a:t>Data is not sent as one continuous stream. It is broken into small units called packets, each labeled with a destination address. Packets can travel by different routes and are reassembled in order once they arrive.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548640" y="342900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548640" y="3429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411480" y="39776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293b"/>
                </a:solidFill>
                <a:latin typeface="Calibri"/>
                <a:ea typeface="Calibri"/>
              </a:rPr>
              <a:t>Split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411480" y="4343400"/>
            <a:ext cx="265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7184"/>
                </a:solidFill>
                <a:latin typeface="Calibri"/>
                <a:ea typeface="Calibri"/>
              </a:rPr>
              <a:t>A sensor reading is broken into packets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3383280" y="342900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3383280" y="3429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0"/>
          <p:cNvSpPr/>
          <p:nvPr/>
        </p:nvSpPr>
        <p:spPr>
          <a:xfrm>
            <a:off x="3246120" y="39776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293b"/>
                </a:solidFill>
                <a:latin typeface="Calibri"/>
                <a:ea typeface="Calibri"/>
              </a:rPr>
              <a:t>Address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3246120" y="4343400"/>
            <a:ext cx="265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7184"/>
                </a:solidFill>
                <a:latin typeface="Calibri"/>
                <a:ea typeface="Calibri"/>
              </a:rPr>
              <a:t>Each packet is tagged with the server's address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2"/>
          <p:cNvSpPr/>
          <p:nvPr/>
        </p:nvSpPr>
        <p:spPr>
          <a:xfrm>
            <a:off x="6217920" y="342900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6217920" y="3429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6080760" y="39776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293b"/>
                </a:solidFill>
                <a:latin typeface="Calibri"/>
                <a:ea typeface="Calibri"/>
              </a:rPr>
              <a:t>Route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6080760" y="4343400"/>
            <a:ext cx="265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7184"/>
                </a:solidFill>
                <a:latin typeface="Calibri"/>
                <a:ea typeface="Calibri"/>
              </a:rPr>
              <a:t>Routers pass packets along the fastest available path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9052560" y="342900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9052560" y="3429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8915400" y="39776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293b"/>
                </a:solidFill>
                <a:latin typeface="Calibri"/>
                <a:ea typeface="Calibri"/>
              </a:rPr>
              <a:t>Reassemble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9"/>
          <p:cNvSpPr/>
          <p:nvPr/>
        </p:nvSpPr>
        <p:spPr>
          <a:xfrm>
            <a:off x="8915400" y="4343400"/>
            <a:ext cx="26514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5b7184"/>
                </a:solidFill>
                <a:latin typeface="Calibri"/>
                <a:ea typeface="Calibri"/>
              </a:rPr>
              <a:t>The server puts packets back in the right order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0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4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CORE CONCEPT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Key Protocols That Make It Work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548640" y="1691640"/>
            <a:ext cx="21027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7293"/>
                </a:solidFill>
                <a:latin typeface="Calibri"/>
                <a:ea typeface="Calibri"/>
              </a:rPr>
              <a:t>TCP/IP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2788920" y="1691640"/>
            <a:ext cx="4160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Guarantees packets are delivered reliably and reassembled correctly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7086600" y="1691640"/>
            <a:ext cx="4571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b7184"/>
                </a:solidFill>
                <a:latin typeface="Calibri"/>
                <a:ea typeface="Calibri"/>
              </a:rPr>
              <a:t>Carries every SignalDash sensor packet, in order, with nothing lost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548640" y="3154680"/>
            <a:ext cx="21027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7293"/>
                </a:solidFill>
                <a:latin typeface="Calibri"/>
                <a:ea typeface="Calibri"/>
              </a:rPr>
              <a:t>HTTP / HTTPS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2788920" y="3154680"/>
            <a:ext cx="4160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The language browsers and servers use to request and send web content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7086600" y="3154680"/>
            <a:ext cx="4571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b7184"/>
                </a:solidFill>
                <a:latin typeface="Calibri"/>
                <a:ea typeface="Calibri"/>
              </a:rPr>
              <a:t>The dashboard's “talking language” when it asks the server for live data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548640" y="4617720"/>
            <a:ext cx="21027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7293"/>
                </a:solidFill>
                <a:latin typeface="Calibri"/>
                <a:ea typeface="Calibri"/>
              </a:rPr>
              <a:t>DNS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2788920" y="4617720"/>
            <a:ext cx="4160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Translates human-readable names into machine IP addresses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7086600" y="4617720"/>
            <a:ext cx="4571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b7184"/>
                </a:solidFill>
                <a:latin typeface="Calibri"/>
                <a:ea typeface="Calibri"/>
              </a:rPr>
              <a:t>Turns api.signaldash.io into the real address of the SignalDash server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CORE CONCEPT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The Internet vs. The Web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548640" y="169164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7293"/>
                </a:solidFill>
                <a:latin typeface="Cambria"/>
                <a:ea typeface="Cambria"/>
              </a:rPr>
              <a:t>The Internet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548640" y="2148840"/>
            <a:ext cx="52117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7293b"/>
                </a:solidFill>
                <a:latin typeface="Calibri"/>
                <a:ea typeface="Calibri"/>
              </a:rPr>
              <a:t>The physical and logical infrastructure — cables, routers, satellites, and the protocols that move data between machines. It also carries email, file transfer, and video calls.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6309360" y="1691640"/>
            <a:ext cx="5303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5a623"/>
                </a:solidFill>
                <a:latin typeface="Cambria"/>
                <a:ea typeface="Cambria"/>
              </a:rPr>
              <a:t>The Web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6309360" y="2148840"/>
            <a:ext cx="53031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7293b"/>
                </a:solidFill>
                <a:latin typeface="Calibri"/>
                <a:ea typeface="Calibri"/>
              </a:rPr>
              <a:t>One service that runs on top of the Internet: linked pages and applications accessed over HTTP/HTTPS, identified by URLs, and displayed in a browser.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548640" y="40233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5b7184"/>
                </a:solidFill>
                <a:latin typeface="Calibri"/>
                <a:ea typeface="Calibri"/>
              </a:rPr>
              <a:t>Rule of thumb: the Internet is the road network. The Web is one kind of traffic that uses those roads — HTTP traffic, specifically. The SignalDash dashboard is a Web application; it depends on, but is not the same as, the Internet.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CORE CONCEPT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What Is Web Architecture?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48640" y="1600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Definition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548640" y="1965960"/>
            <a:ext cx="110638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293b"/>
                </a:solidFill>
                <a:latin typeface="Calibri"/>
                <a:ea typeface="Calibri"/>
              </a:rPr>
              <a:t>Web architecture is the overall design of how a web application's parts — the interface, the logic that processes requests, and the data storage — are organized and how they communicate with one another.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548640" y="31089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a623"/>
                </a:solidFill>
                <a:latin typeface="Calibri"/>
                <a:ea typeface="Calibri"/>
              </a:rPr>
              <a:t>Every web architecture answers three questions: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822960" y="35661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293b"/>
                </a:solidFill>
                <a:latin typeface="Calibri"/>
                <a:ea typeface="Calibri"/>
              </a:rPr>
              <a:t>1.  Where does the interface the user sees run?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822960" y="40690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293b"/>
                </a:solidFill>
                <a:latin typeface="Calibri"/>
                <a:ea typeface="Calibri"/>
              </a:rPr>
              <a:t>2.  Where does the application's logic and processing happen?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822960" y="45720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7293b"/>
                </a:solidFill>
                <a:latin typeface="Calibri"/>
                <a:ea typeface="Calibri"/>
              </a:rPr>
              <a:t>3.  Where and how is the data stored and retrieved?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548640" y="580644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b7184"/>
                </a:solidFill>
                <a:latin typeface="Calibri"/>
                <a:ea typeface="Calibri"/>
              </a:rPr>
              <a:t>SignalDash answers these with a Client-Server model — the subject of the rest of this lecture.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731520" y="6400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f5a623"/>
                </a:solidFill>
                <a:latin typeface="Calibri"/>
                <a:ea typeface="Calibri"/>
              </a:rPr>
              <a:t>CORE CONCEPT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731520" y="96012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The Client-Server Model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731520" y="1965960"/>
            <a:ext cx="9875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40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5fa8c4"/>
                </a:solidFill>
                <a:latin typeface="Calibri"/>
                <a:ea typeface="Calibri"/>
              </a:rPr>
              <a:t>A design in which one program (the client) requests a resource or service, and a separate program (the server) listens for that request, processes it, and returns a response. The two communicate over a network using an agreed protocol — typically HTTP.</a:t>
            </a:r>
            <a:endParaRPr b="0" lang="en-IN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731520" y="37490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Client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731520" y="4206240"/>
            <a:ext cx="4114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fa8c4"/>
                </a:solidFill>
                <a:latin typeface="Calibri"/>
                <a:ea typeface="Calibri"/>
              </a:rPr>
              <a:t>Initiates requests. In SignalDash, this is the browser rendering the dashboard.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6309360" y="37490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Server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6309360" y="4206240"/>
            <a:ext cx="4114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fa8c4"/>
                </a:solidFill>
                <a:latin typeface="Calibri"/>
                <a:ea typeface="Calibri"/>
              </a:rPr>
              <a:t>Waits for requests. In SignalDash, this is the backend serving live sensor data.</a:t>
            </a:r>
            <a:endParaRPr b="0" lang="en-IN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8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CORE CONCEPT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The Request-Response Cycle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548640" y="169164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548640" y="169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1188720" y="164592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A technician opens the SignalDash dashboard in a browser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6400800" y="169164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6400800" y="169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7"/>
          <p:cNvSpPr/>
          <p:nvPr/>
        </p:nvSpPr>
        <p:spPr>
          <a:xfrm>
            <a:off x="7040880" y="164592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The browser (client) sends an HTTP request for the latest sensor readings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8"/>
          <p:cNvSpPr/>
          <p:nvPr/>
        </p:nvSpPr>
        <p:spPr>
          <a:xfrm>
            <a:off x="548640" y="310896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548640" y="3108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1188720" y="306324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The request travels across the Internet to the SignalDash server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6400800" y="310896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6400800" y="3108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7040880" y="306324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The server processes the request and queries the database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548640" y="452628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5"/>
          <p:cNvSpPr/>
          <p:nvPr/>
        </p:nvSpPr>
        <p:spPr>
          <a:xfrm>
            <a:off x="548640" y="4526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6"/>
          <p:cNvSpPr/>
          <p:nvPr/>
        </p:nvSpPr>
        <p:spPr>
          <a:xfrm>
            <a:off x="1188720" y="448056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The server sends an HTTP response containing the sensor data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7"/>
          <p:cNvSpPr/>
          <p:nvPr/>
        </p:nvSpPr>
        <p:spPr>
          <a:xfrm>
            <a:off x="6400800" y="452628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6400800" y="4526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7040880" y="448056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The browser renders the data as live charts on the dashboard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COMPARISON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Client Responsibilities vs. Server Responsibilities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548640" y="1691640"/>
            <a:ext cx="5211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c7293"/>
                </a:solidFill>
                <a:latin typeface="Cambria"/>
                <a:ea typeface="Cambria"/>
              </a:rPr>
              <a:t>Client (Front End)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548640" y="22402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7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Renders the user interface (React components)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548640" y="28072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7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Captures user input and interaction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548640" y="337428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7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Sends requests to the server and waits for a response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548640" y="3940920"/>
            <a:ext cx="5211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7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Displays returned data — e.g., live sensor charts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6309360" y="1691640"/>
            <a:ext cx="5303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5a623"/>
                </a:solidFill>
                <a:latin typeface="Cambria"/>
                <a:ea typeface="Cambria"/>
              </a:rPr>
              <a:t>Server (Back End)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6309360" y="224028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7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Listens for incoming requests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6309360" y="280728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7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Applies business logic (e.g., flag abnormal sensor readings)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6309360" y="337428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7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Reads from and writes to the database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6309360" y="394092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7293b"/>
              </a:buClr>
              <a:buFont typeface="Symbol" charset="2"/>
              <a:buChar char=""/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Returns a structured response — typically as JSON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CORE CONCEPT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Anatomy of a Request URL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48640" y="182880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ourier New"/>
                <a:ea typeface="Courier New"/>
              </a:rPr>
              <a:t>https://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3977640" y="182880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5a623"/>
                </a:solidFill>
                <a:latin typeface="Calibri"/>
                <a:ea typeface="Calibri"/>
              </a:rPr>
              <a:t>Protocol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6492240" y="182880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7293b"/>
                </a:solidFill>
                <a:latin typeface="Calibri"/>
                <a:ea typeface="Calibri"/>
              </a:rPr>
              <a:t>Encrypted HTTP — how the client and server agree to talk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548640" y="278892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ourier New"/>
                <a:ea typeface="Courier New"/>
              </a:rPr>
              <a:t>api.signaldash.io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3977640" y="278892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5a623"/>
                </a:solidFill>
                <a:latin typeface="Calibri"/>
                <a:ea typeface="Calibri"/>
              </a:rPr>
              <a:t>Host (Domain)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6492240" y="278892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7293b"/>
                </a:solidFill>
                <a:latin typeface="Calibri"/>
                <a:ea typeface="Calibri"/>
              </a:rPr>
              <a:t>Resolved by DNS to the server's IP address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548640" y="374904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ourier New"/>
                <a:ea typeface="Courier New"/>
              </a:rPr>
              <a:t>/sensors/42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3977640" y="374904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5a623"/>
                </a:solidFill>
                <a:latin typeface="Calibri"/>
                <a:ea typeface="Calibri"/>
              </a:rPr>
              <a:t>Path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6492240" y="374904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7293b"/>
                </a:solidFill>
                <a:latin typeface="Calibri"/>
                <a:ea typeface="Calibri"/>
              </a:rPr>
              <a:t>The specific resource being requested — sensor #42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548640" y="470916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7293"/>
                </a:solidFill>
                <a:latin typeface="Courier New"/>
                <a:ea typeface="Courier New"/>
              </a:rPr>
              <a:t>?range=24h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3977640" y="470916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5a623"/>
                </a:solidFill>
                <a:latin typeface="Calibri"/>
                <a:ea typeface="Calibri"/>
              </a:rPr>
              <a:t>Query String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6492240" y="470916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701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7293b"/>
                </a:solidFill>
                <a:latin typeface="Calibri"/>
                <a:ea typeface="Calibri"/>
              </a:rPr>
              <a:t>Extra parameters — here, the last 24 hours of readings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11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CORE CONCEPT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Three-Tier Web Architecture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548640" y="1554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Definition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548640" y="1920240"/>
            <a:ext cx="11063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001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17293b"/>
                </a:solidFill>
                <a:latin typeface="Calibri"/>
                <a:ea typeface="Calibri"/>
              </a:rPr>
              <a:t>Most modern web applications split the server side further, separating application logic from data storage. This gives three distinct tiers, each able to scale or change independently.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548640" y="306324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7293"/>
                </a:solidFill>
                <a:latin typeface="Cambria"/>
                <a:ea typeface="Cambria"/>
              </a:rPr>
              <a:t>Presentation Tier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548640" y="3566160"/>
            <a:ext cx="3520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The client — React UI running in the browser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4069080" y="306324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5b7184"/>
                </a:solidFill>
                <a:latin typeface="Calibri"/>
                <a:ea typeface="Calibri"/>
              </a:rPr>
              <a:t>→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4343400" y="306324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5a623"/>
                </a:solidFill>
                <a:latin typeface="Cambria"/>
                <a:ea typeface="Cambria"/>
              </a:rPr>
              <a:t>Application Tier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4343400" y="3566160"/>
            <a:ext cx="3520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The server — handles requests, applies logic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7863840" y="3063240"/>
            <a:ext cx="273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5b7184"/>
                </a:solidFill>
                <a:latin typeface="Calibri"/>
                <a:ea typeface="Calibri"/>
              </a:rPr>
              <a:t>→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8138160" y="306324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7293"/>
                </a:solidFill>
                <a:latin typeface="Cambria"/>
                <a:ea typeface="Cambria"/>
              </a:rPr>
              <a:t>Data Tier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1"/>
          <p:cNvSpPr/>
          <p:nvPr/>
        </p:nvSpPr>
        <p:spPr>
          <a:xfrm>
            <a:off x="8138160" y="3566160"/>
            <a:ext cx="3520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7293b"/>
                </a:solidFill>
                <a:latin typeface="Calibri"/>
                <a:ea typeface="Calibri"/>
              </a:rPr>
              <a:t>The database — stores sensor readings and history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548640" y="512064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b7184"/>
                </a:solidFill>
                <a:latin typeface="Calibri"/>
                <a:ea typeface="Calibri"/>
              </a:rPr>
              <a:t>The client never talks to the database directly — every request passes through the application tier, which enforces rules and validates data.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12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WORKED EXAMPLE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Putting It Together: A SignalDash Request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548640" y="169164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548640" y="169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234440" y="166428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Client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3154680" y="16642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Dashboard requests /sensors/42?range=24h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6"/>
          <p:cNvSpPr/>
          <p:nvPr/>
        </p:nvSpPr>
        <p:spPr>
          <a:xfrm>
            <a:off x="548640" y="235008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548640" y="2350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1234440" y="23227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Internet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3154680" y="23227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DNS resolves the host; packets route to the server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0"/>
          <p:cNvSpPr/>
          <p:nvPr/>
        </p:nvSpPr>
        <p:spPr>
          <a:xfrm>
            <a:off x="548640" y="300852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1"/>
          <p:cNvSpPr/>
          <p:nvPr/>
        </p:nvSpPr>
        <p:spPr>
          <a:xfrm>
            <a:off x="548640" y="3008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2"/>
          <p:cNvSpPr/>
          <p:nvPr/>
        </p:nvSpPr>
        <p:spPr>
          <a:xfrm>
            <a:off x="1234440" y="298080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Server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3154680" y="29808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Application tier authenticates and validates the request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4"/>
          <p:cNvSpPr/>
          <p:nvPr/>
        </p:nvSpPr>
        <p:spPr>
          <a:xfrm>
            <a:off x="548640" y="366660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548640" y="3666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6"/>
          <p:cNvSpPr/>
          <p:nvPr/>
        </p:nvSpPr>
        <p:spPr>
          <a:xfrm>
            <a:off x="1234440" y="363924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Database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7"/>
          <p:cNvSpPr/>
          <p:nvPr/>
        </p:nvSpPr>
        <p:spPr>
          <a:xfrm>
            <a:off x="3154680" y="363924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Data tier returns the last 24 hours of readings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8"/>
          <p:cNvSpPr/>
          <p:nvPr/>
        </p:nvSpPr>
        <p:spPr>
          <a:xfrm>
            <a:off x="548640" y="432504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9"/>
          <p:cNvSpPr/>
          <p:nvPr/>
        </p:nvSpPr>
        <p:spPr>
          <a:xfrm>
            <a:off x="548640" y="43250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0"/>
          <p:cNvSpPr/>
          <p:nvPr/>
        </p:nvSpPr>
        <p:spPr>
          <a:xfrm>
            <a:off x="1234440" y="429768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Server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1"/>
          <p:cNvSpPr/>
          <p:nvPr/>
        </p:nvSpPr>
        <p:spPr>
          <a:xfrm>
            <a:off x="3154680" y="429768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Application tier formats the data as JSON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22"/>
          <p:cNvSpPr/>
          <p:nvPr/>
        </p:nvSpPr>
        <p:spPr>
          <a:xfrm>
            <a:off x="548640" y="4983480"/>
            <a:ext cx="456840" cy="4568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3"/>
          <p:cNvSpPr/>
          <p:nvPr/>
        </p:nvSpPr>
        <p:spPr>
          <a:xfrm>
            <a:off x="548640" y="4983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24"/>
          <p:cNvSpPr/>
          <p:nvPr/>
        </p:nvSpPr>
        <p:spPr>
          <a:xfrm>
            <a:off x="1234440" y="49561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Client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25"/>
          <p:cNvSpPr/>
          <p:nvPr/>
        </p:nvSpPr>
        <p:spPr>
          <a:xfrm>
            <a:off x="3154680" y="49561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Dashboard renders the readings as a live chart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6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13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548640" y="36576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1c7293"/>
                </a:solidFill>
                <a:latin typeface="Calibri"/>
                <a:ea typeface="Calibri"/>
              </a:rPr>
              <a:t>RECAP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548640" y="65844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7293b"/>
                </a:solidFill>
                <a:latin typeface="Cambria"/>
                <a:ea typeface="Cambria"/>
              </a:rPr>
              <a:t>Summary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"/>
          <p:cNvSpPr/>
          <p:nvPr/>
        </p:nvSpPr>
        <p:spPr>
          <a:xfrm>
            <a:off x="548640" y="178308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7293"/>
                </a:solidFill>
                <a:latin typeface="Cambria"/>
                <a:ea typeface="Cambria"/>
              </a:rPr>
              <a:t>Internet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548640" y="2331720"/>
            <a:ext cx="3520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A global network of networks moving data as packets, governed by TCP/IP, HTTP, and DNS.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4343400" y="178308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5a623"/>
                </a:solidFill>
                <a:latin typeface="Cambria"/>
                <a:ea typeface="Cambria"/>
              </a:rPr>
              <a:t>Web Architecture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4343400" y="2331720"/>
            <a:ext cx="3520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How a web app's interface, logic, and data are organized and made to communicate.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8138160" y="178308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7293"/>
                </a:solidFill>
                <a:latin typeface="Cambria"/>
                <a:ea typeface="Cambria"/>
              </a:rPr>
              <a:t>Client-Server Model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8138160" y="2331720"/>
            <a:ext cx="35200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7293b"/>
                </a:solidFill>
                <a:latin typeface="Calibri"/>
                <a:ea typeface="Calibri"/>
              </a:rPr>
              <a:t>Clients request; servers respond. SignalDash's dashboard and backend are one working example.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116128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b7184"/>
                </a:solidFill>
                <a:latin typeface="Calibri"/>
                <a:ea typeface="Calibri"/>
              </a:rPr>
              <a:t>14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731520" y="237744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5a623"/>
                </a:solidFill>
                <a:latin typeface="Calibri"/>
                <a:ea typeface="Calibri"/>
              </a:rPr>
              <a:t>Next Up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731520" y="27432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Questions?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731520" y="361188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22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5fa8c4"/>
                </a:solidFill>
                <a:latin typeface="Calibri"/>
                <a:ea typeface="Calibri"/>
              </a:rPr>
              <a:t>Next lab: we'll build the SignalDash client and trace a real HTTP request in the browser's network tab.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</TotalTime>
  <Application>LibreOffice/7.6.7.2$Linux_X86_64 LibreOffice_project/60$Build-2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2026-07-23T04:09:37Z</dcterms:created>
  <dc:creator>PptxGenJS</dc:creator>
  <dc:description/>
  <dc:language>en-IN</dc:language>
  <cp:lastModifiedBy/>
  <dcterms:modified xsi:type="dcterms:W3CDTF">2026-07-23T16:38:31Z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