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ffffff"/>
                </a:solidFill>
                <a:latin typeface="Arial"/>
              </a:defRPr>
            </a:pPr>
            <a:r>
              <a:rPr b="0" sz="1300" spc="-1" strike="noStrike">
                <a:solidFill>
                  <a:srgbClr val="ffffff"/>
                </a:solidFill>
                <a:latin typeface="Arial"/>
              </a:rPr>
              <a:t>Live Temperature Trend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Temperature (°C)</c:v>
                </c:pt>
              </c:strCache>
            </c:strRef>
          </c:tx>
          <c:spPr>
            <a:solidFill>
              <a:srgbClr val="f2a541"/>
            </a:solidFill>
            <a:ln w="38160">
              <a:solidFill>
                <a:srgbClr val="f2a541"/>
              </a:solidFill>
              <a:round/>
            </a:ln>
          </c:spPr>
          <c:marker>
            <c:symbol val="circle"/>
            <c:size val="5"/>
            <c:spPr>
              <a:solidFill>
                <a:srgbClr val="f2a541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31.2</c:v>
                </c:pt>
                <c:pt idx="1">
                  <c:v>32.4</c:v>
                </c:pt>
                <c:pt idx="2">
                  <c:v>32.5</c:v>
                </c:pt>
                <c:pt idx="3">
                  <c:v>32.7</c:v>
                </c:pt>
                <c:pt idx="4">
                  <c:v>33.1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97823857"/>
        <c:axId val="66311072"/>
      </c:lineChart>
      <c:catAx>
        <c:axId val="9782385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1c7293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cadcfc"/>
                </a:solidFill>
                <a:latin typeface="Arial"/>
              </a:defRPr>
            </a:pPr>
          </a:p>
        </c:txPr>
        <c:crossAx val="66311072"/>
        <c:crosses val="autoZero"/>
        <c:auto val="1"/>
        <c:lblAlgn val="ctr"/>
        <c:lblOffset val="100"/>
        <c:noMultiLvlLbl val="0"/>
      </c:catAx>
      <c:valAx>
        <c:axId val="66311072"/>
        <c:scaling>
          <c:orientation val="minMax"/>
        </c:scaling>
        <c:delete val="0"/>
        <c:axPos val="l"/>
        <c:majorGridlines>
          <c:spPr>
            <a:ln w="9360">
              <a:solidFill>
                <a:srgbClr val="16345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1c7293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cadcfc"/>
                </a:solidFill>
                <a:latin typeface="Arial"/>
              </a:defRPr>
            </a:pPr>
          </a:p>
        </c:txPr>
        <c:crossAx val="97823857"/>
        <c:crosses val="autoZero"/>
        <c:crossBetween val="between"/>
      </c:valAx>
      <c:spPr>
        <a:solidFill>
          <a:srgbClr val="0b1e3d"/>
        </a:solidFill>
        <a:ln w="0">
          <a:noFill/>
        </a:ln>
      </c:spPr>
    </c:plotArea>
    <c:plotVisOnly val="1"/>
    <c:dispBlanksAs val="span"/>
  </c:chart>
  <c:spPr>
    <a:solidFill>
      <a:srgbClr val="0b1e3d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077FA84-B81D-4618-A575-E97CFD88A525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BD6DB-CF08-47D7-9713-5777807BD6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DEEBB-D9A1-4592-A88F-9B8068439D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D842A0-1E7A-49FC-99F7-4E8A8E92FA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6C9A49-A7BC-495A-80E8-227A3A6666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1ECF7A-36D7-4F0C-9AD3-6739E395B2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1F5AB2-70E9-49A6-A4F3-C627A028F2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C9CD3F-7D09-4534-9A1C-1D1C68F438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B6E58C-2150-4A5E-ADA4-E5466D828C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2E7E7-B875-45EA-AD39-3BF00216A1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78F31-EC83-42BB-BA31-26A48CADD2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22026-8A43-4395-A611-F90854C310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DD0798-3754-4BDB-B9AB-3765CB310F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726F14-2D10-488D-BD87-992199EF24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9E4FC-888F-4CC4-AD07-29BD61F154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6BD9E-4D01-41C7-92F1-3EDE881E79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image" Target="../media/image19.png"/><Relationship Id="rId4" Type="http://schemas.openxmlformats.org/officeDocument/2006/relationships/image" Target="../media/image19.png"/><Relationship Id="rId5" Type="http://schemas.openxmlformats.org/officeDocument/2006/relationships/image" Target="../media/image19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1463040"/>
            <a:ext cx="5486040" cy="5486040"/>
          </a:xfrm>
          <a:prstGeom prst="ellipse">
            <a:avLst/>
          </a:prstGeom>
          <a:solidFill>
            <a:srgbClr val="065a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692640" y="-548640"/>
            <a:ext cx="3657240" cy="365724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371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f2a541"/>
                </a:solidFill>
                <a:latin typeface="Calibri"/>
                <a:ea typeface="Calibri"/>
              </a:rPr>
              <a:t>CO1  ·  MODULE 1  ·  LAB 1  ·  CONCEPT 1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874520"/>
            <a:ext cx="9875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The Day-One “SignalDash” Architecture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324612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adcfc"/>
                </a:solidFill>
                <a:latin typeface="Calibri"/>
                <a:ea typeface="Calibri"/>
              </a:rPr>
              <a:t>How does a temperature reading from a physical sensor appear as a live graph inside a web browser?</a:t>
            </a:r>
            <a:endParaRPr b="0" lang="en-IN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" y="4343400"/>
            <a:ext cx="5120640" cy="360"/>
          </a:xfrm>
          <a:prstGeom prst="line">
            <a:avLst/>
          </a:prstGeom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22960" y="4526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Duration: </a:t>
            </a: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30–40 minutes  (Discussion before coding)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2296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100944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17" name="Text 8"/>
          <p:cNvSpPr/>
          <p:nvPr/>
        </p:nvSpPr>
        <p:spPr>
          <a:xfrm>
            <a:off x="38880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Sensor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1645920" y="56052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7293"/>
                </a:solidFill>
                <a:latin typeface="Calibri"/>
              </a:rPr>
              <a:t>→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251460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Image 1" descr="preencoded.png"/>
          <p:cNvPicPr/>
          <p:nvPr/>
        </p:nvPicPr>
        <p:blipFill>
          <a:blip r:embed="rId2"/>
          <a:stretch/>
        </p:blipFill>
        <p:spPr>
          <a:xfrm>
            <a:off x="270108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21" name="Text 11"/>
          <p:cNvSpPr/>
          <p:nvPr/>
        </p:nvSpPr>
        <p:spPr>
          <a:xfrm>
            <a:off x="208044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MQTT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337560" y="56052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7293"/>
                </a:solidFill>
                <a:latin typeface="Calibri"/>
              </a:rPr>
              <a:t>→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420624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Image 2" descr="preencoded.png"/>
          <p:cNvPicPr/>
          <p:nvPr/>
        </p:nvPicPr>
        <p:blipFill>
          <a:blip r:embed="rId3"/>
          <a:stretch/>
        </p:blipFill>
        <p:spPr>
          <a:xfrm>
            <a:off x="439272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25" name="Text 14"/>
          <p:cNvSpPr/>
          <p:nvPr/>
        </p:nvSpPr>
        <p:spPr>
          <a:xfrm>
            <a:off x="377208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Node.js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5029200" y="56052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7293"/>
                </a:solidFill>
                <a:latin typeface="Calibri"/>
              </a:rPr>
              <a:t>→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589788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Image 3" descr="preencoded.png"/>
          <p:cNvPicPr/>
          <p:nvPr/>
        </p:nvPicPr>
        <p:blipFill>
          <a:blip r:embed="rId4"/>
          <a:stretch/>
        </p:blipFill>
        <p:spPr>
          <a:xfrm>
            <a:off x="608436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29" name="Text 17"/>
          <p:cNvSpPr/>
          <p:nvPr/>
        </p:nvSpPr>
        <p:spPr>
          <a:xfrm>
            <a:off x="546372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WebSocket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6720840" y="56052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7293"/>
                </a:solidFill>
                <a:latin typeface="Calibri"/>
              </a:rPr>
              <a:t>→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758952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4" descr="preencoded.png"/>
          <p:cNvPicPr/>
          <p:nvPr/>
        </p:nvPicPr>
        <p:blipFill>
          <a:blip r:embed="rId5"/>
          <a:stretch/>
        </p:blipFill>
        <p:spPr>
          <a:xfrm>
            <a:off x="777600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33" name="Text 20"/>
          <p:cNvSpPr/>
          <p:nvPr/>
        </p:nvSpPr>
        <p:spPr>
          <a:xfrm>
            <a:off x="715536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React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8412480" y="56052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7293"/>
                </a:solidFill>
                <a:latin typeface="Calibri"/>
              </a:rPr>
              <a:t>→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9281160" y="54180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Image 5" descr="preencoded.png"/>
          <p:cNvPicPr/>
          <p:nvPr/>
        </p:nvPicPr>
        <p:blipFill>
          <a:blip r:embed="rId6"/>
          <a:stretch/>
        </p:blipFill>
        <p:spPr>
          <a:xfrm>
            <a:off x="9467640" y="56044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37" name="Text 23"/>
          <p:cNvSpPr/>
          <p:nvPr/>
        </p:nvSpPr>
        <p:spPr>
          <a:xfrm>
            <a:off x="8847000" y="6268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Chart.js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LEARNING OUTCOMES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After this discussion, you will be able to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548640" y="169164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777240" y="189756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909000" y="20289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3" name="Text 4"/>
          <p:cNvSpPr/>
          <p:nvPr/>
        </p:nvSpPr>
        <p:spPr>
          <a:xfrm>
            <a:off x="1417320" y="178308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  <a:ea typeface="Calibri"/>
              </a:rPr>
              <a:t>Understand the complete architecture of the SignalDash application.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6126480" y="169164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6355080" y="189756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6486840" y="20289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7" name="Text 7"/>
          <p:cNvSpPr/>
          <p:nvPr/>
        </p:nvSpPr>
        <p:spPr>
          <a:xfrm>
            <a:off x="6995160" y="178308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  <a:ea typeface="Calibri"/>
              </a:rPr>
              <a:t>Explain how engineering sensor data reaches a web browser.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548640" y="288036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777240" y="3086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909000" y="321768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51" name="Text 10"/>
          <p:cNvSpPr/>
          <p:nvPr/>
        </p:nvSpPr>
        <p:spPr>
          <a:xfrm>
            <a:off x="1417320" y="297180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  <a:ea typeface="Calibri"/>
              </a:rPr>
              <a:t>Identify the role of each software component in the system.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6126480" y="288036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6355080" y="3086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 3" descr="preencoded.png"/>
          <p:cNvPicPr/>
          <p:nvPr/>
        </p:nvPicPr>
        <p:blipFill>
          <a:blip r:embed="rId4"/>
          <a:stretch/>
        </p:blipFill>
        <p:spPr>
          <a:xfrm>
            <a:off x="6486840" y="321768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55" name="Text 13"/>
          <p:cNvSpPr/>
          <p:nvPr/>
        </p:nvSpPr>
        <p:spPr>
          <a:xfrm>
            <a:off x="6995160" y="297180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  <a:ea typeface="Calibri"/>
              </a:rPr>
              <a:t>Differentiate between data producers and data consumers.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548640" y="4069080"/>
            <a:ext cx="10698120" cy="95976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777240" y="42750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Image 4" descr="preencoded.png"/>
          <p:cNvPicPr/>
          <p:nvPr/>
        </p:nvPicPr>
        <p:blipFill>
          <a:blip r:embed="rId5"/>
          <a:stretch/>
        </p:blipFill>
        <p:spPr>
          <a:xfrm>
            <a:off x="909000" y="440640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59" name="Text 16"/>
          <p:cNvSpPr/>
          <p:nvPr/>
        </p:nvSpPr>
        <p:spPr>
          <a:xfrm>
            <a:off x="1417320" y="416052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93b"/>
                </a:solidFill>
                <a:latin typeface="Calibri"/>
                <a:ea typeface="Calibri"/>
              </a:rPr>
              <a:t>Understand why modern engineering systems use event-driven communication.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1. INTRODUCTION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Architecture before code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48640" y="1737360"/>
            <a:ext cx="6400440" cy="4205880"/>
          </a:xfrm>
          <a:prstGeom prst="roundRect">
            <a:avLst>
              <a:gd name="adj" fmla="val 2174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868680" y="1965960"/>
            <a:ext cx="585180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450" spc="-1" strike="noStrike">
                <a:solidFill>
                  <a:srgbClr val="1e293b"/>
                </a:solidFill>
                <a:latin typeface="Calibri"/>
                <a:ea typeface="Calibri"/>
              </a:rPr>
              <a:t>In many engineering laboratories, students begin programming immediately. Professional software engineers, however, spend considerable time understanding system architecture before writing code.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  <a:ea typeface="Calibri"/>
              </a:rPr>
              <a:t>The SignalDash application is the “North Star” project for this entire course — every lab builds on it, adding new features and capabilities.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  <a:ea typeface="Calibri"/>
              </a:rPr>
              <a:t>Answering the core question requires understanding the complete data journey, end to end, before a single line of code is written.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7269480" y="1737360"/>
            <a:ext cx="4370400" cy="4205880"/>
          </a:xfrm>
          <a:prstGeom prst="roundRect">
            <a:avLst>
              <a:gd name="adj" fmla="val 2174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7635240" y="201168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7788960" y="216540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69" name="Text 6"/>
          <p:cNvSpPr/>
          <p:nvPr/>
        </p:nvSpPr>
        <p:spPr>
          <a:xfrm>
            <a:off x="7772400" y="201168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2a541"/>
                </a:solidFill>
                <a:latin typeface="Calibri"/>
                <a:ea typeface="Calibri"/>
              </a:rPr>
              <a:t>The Fundamental Question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7589520" y="2880360"/>
            <a:ext cx="37944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How does a temperature reading from a physical sensor appear as a live graph inside a web browser?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2. WHAT IS SIGNALDASH?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A real-time engineering monitoring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48640" y="1691640"/>
            <a:ext cx="6034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  <a:ea typeface="Calibri"/>
              </a:rPr>
              <a:t>SignalDash displays continuously changing measurements from sensors — instead of refreshing the page repeatedly, the dashboard updates automatically the instant new sensor data becomes available. This is called a real-time monitoring system.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48640" y="3657600"/>
            <a:ext cx="6034680" cy="68544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548640" y="3657600"/>
            <a:ext cx="6034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Examples of Monitored Quantities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548640" y="45262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685800" y="45262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Temperature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3657600" y="45262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3794760" y="45262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Pressure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548640" y="52120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685800" y="52120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Voltage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3657600" y="52120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3794760" y="52120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Current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548640" y="58978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685800" y="58978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Humidity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3657600" y="58978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3794760" y="58978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Frequency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548640" y="65836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685800" y="65836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Flow Rate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3657600" y="6583680"/>
            <a:ext cx="2925720" cy="566640"/>
          </a:xfrm>
          <a:prstGeom prst="roundRect">
            <a:avLst>
              <a:gd name="adj" fmla="val 9677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3794760" y="65836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Machine Vibration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6949440" y="1691640"/>
            <a:ext cx="4708800" cy="4434480"/>
          </a:xfrm>
          <a:prstGeom prst="roundRect">
            <a:avLst>
              <a:gd name="adj" fmla="val 2062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7292520" y="198900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7435080" y="213156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97" name="Text 23"/>
          <p:cNvSpPr/>
          <p:nvPr/>
        </p:nvSpPr>
        <p:spPr>
          <a:xfrm>
            <a:off x="7452360" y="19933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Live Reading Feed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Table 0"/>
          <p:cNvGraphicFramePr/>
          <p:nvPr/>
        </p:nvGraphicFramePr>
        <p:xfrm>
          <a:off x="7452360" y="2743200"/>
          <a:ext cx="3931560" cy="191988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2a541"/>
                          </a:solidFill>
                          <a:latin typeface="Calibri"/>
                          <a:ea typeface="Calibri"/>
                        </a:rPr>
                        <a:t>Time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2a541"/>
                          </a:solidFill>
                          <a:latin typeface="Calibri"/>
                          <a:ea typeface="Calibri"/>
                        </a:rPr>
                        <a:t>Temp (°C)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10:00:01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32.4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10:00:02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32.5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10:00:03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32.7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10:00:04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</a:rPr>
                        <a:t>32.6</a:t>
                      </a:r>
                      <a:endParaRPr b="0" lang="en-IN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99" name="Text 24"/>
          <p:cNvSpPr/>
          <p:nvPr/>
        </p:nvSpPr>
        <p:spPr>
          <a:xfrm>
            <a:off x="7452360" y="4892040"/>
            <a:ext cx="39315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Every second, a new reading arrives — the sensor itself knows nothing about websites. Its only job is to measure physical quantities.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36576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541"/>
                </a:solidFill>
                <a:latin typeface="Calibri"/>
                <a:ea typeface="Calibri"/>
              </a:rPr>
              <a:t>3. THE COMPLETE DATA JOURNEY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48640" y="6400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Five Components, One Continuous Pipeline</a:t>
            </a:r>
            <a:endParaRPr b="0" lang="en-IN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1257120" y="3566160"/>
            <a:ext cx="9674280" cy="360"/>
          </a:xfrm>
          <a:prstGeom prst="line">
            <a:avLst/>
          </a:prstGeom>
          <a:ln w="25400">
            <a:solidFill>
              <a:srgbClr val="1c729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64008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93636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07" name="Shape 4"/>
          <p:cNvSpPr/>
          <p:nvPr/>
        </p:nvSpPr>
        <p:spPr>
          <a:xfrm>
            <a:off x="64008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158184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58184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1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34308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Physical Sensor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34308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Measures reality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257508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287136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14" name="Shape 10"/>
          <p:cNvSpPr/>
          <p:nvPr/>
        </p:nvSpPr>
        <p:spPr>
          <a:xfrm>
            <a:off x="257508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351684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351684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227772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MQTT Broker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227772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Post office for data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450972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Image 2" descr="preencoded.png"/>
          <p:cNvPicPr/>
          <p:nvPr/>
        </p:nvPicPr>
        <p:blipFill>
          <a:blip r:embed="rId3"/>
          <a:stretch/>
        </p:blipFill>
        <p:spPr>
          <a:xfrm>
            <a:off x="480600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21" name="Shape 16"/>
          <p:cNvSpPr/>
          <p:nvPr/>
        </p:nvSpPr>
        <p:spPr>
          <a:xfrm>
            <a:off x="450972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45148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545148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421272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Node.js Backend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421272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The intelligent bridge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1"/>
          <p:cNvSpPr/>
          <p:nvPr/>
        </p:nvSpPr>
        <p:spPr>
          <a:xfrm>
            <a:off x="644472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4"/>
          <a:stretch/>
        </p:blipFill>
        <p:spPr>
          <a:xfrm>
            <a:off x="674100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28" name="Shape 22"/>
          <p:cNvSpPr/>
          <p:nvPr/>
        </p:nvSpPr>
        <p:spPr>
          <a:xfrm>
            <a:off x="644472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738648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738648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4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614736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WebSocket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614736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Persistent connection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837972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4" descr="preencoded.png"/>
          <p:cNvPicPr/>
          <p:nvPr/>
        </p:nvPicPr>
        <p:blipFill>
          <a:blip r:embed="rId5"/>
          <a:stretch/>
        </p:blipFill>
        <p:spPr>
          <a:xfrm>
            <a:off x="867600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35" name="Shape 28"/>
          <p:cNvSpPr/>
          <p:nvPr/>
        </p:nvSpPr>
        <p:spPr>
          <a:xfrm>
            <a:off x="837972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932148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932148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5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808236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React Frontend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808236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Reactive rendering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10314360" y="2949120"/>
            <a:ext cx="1234080" cy="1234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Image 5" descr="preencoded.png"/>
          <p:cNvPicPr/>
          <p:nvPr/>
        </p:nvPicPr>
        <p:blipFill>
          <a:blip r:embed="rId6"/>
          <a:stretch/>
        </p:blipFill>
        <p:spPr>
          <a:xfrm>
            <a:off x="10610640" y="3245040"/>
            <a:ext cx="641520" cy="641520"/>
          </a:xfrm>
          <a:prstGeom prst="rect">
            <a:avLst/>
          </a:prstGeom>
          <a:ln w="0">
            <a:noFill/>
          </a:ln>
        </p:spPr>
      </p:pic>
      <p:sp>
        <p:nvSpPr>
          <p:cNvPr id="142" name="Shape 34"/>
          <p:cNvSpPr/>
          <p:nvPr/>
        </p:nvSpPr>
        <p:spPr>
          <a:xfrm>
            <a:off x="10314360" y="2949120"/>
            <a:ext cx="1234080" cy="1234080"/>
          </a:xfrm>
          <a:prstGeom prst="ellipse">
            <a:avLst/>
          </a:prstGeom>
          <a:noFill/>
          <a:ln w="190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35"/>
          <p:cNvSpPr/>
          <p:nvPr/>
        </p:nvSpPr>
        <p:spPr>
          <a:xfrm>
            <a:off x="11256120" y="2875680"/>
            <a:ext cx="365400" cy="365400"/>
          </a:xfrm>
          <a:prstGeom prst="ellipse">
            <a:avLst/>
          </a:prstGeom>
          <a:solidFill>
            <a:srgbClr val="f2a541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6"/>
          <p:cNvSpPr/>
          <p:nvPr/>
        </p:nvSpPr>
        <p:spPr>
          <a:xfrm>
            <a:off x="11256120" y="2875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e3d"/>
                </a:solidFill>
                <a:latin typeface="Calibri"/>
                <a:ea typeface="Calibri"/>
              </a:rPr>
              <a:t>6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7"/>
          <p:cNvSpPr/>
          <p:nvPr/>
        </p:nvSpPr>
        <p:spPr>
          <a:xfrm>
            <a:off x="10017360" y="4348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Chart.js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8"/>
          <p:cNvSpPr/>
          <p:nvPr/>
        </p:nvSpPr>
        <p:spPr>
          <a:xfrm>
            <a:off x="10017360" y="46864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Visualizes the trend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39"/>
          <p:cNvSpPr/>
          <p:nvPr/>
        </p:nvSpPr>
        <p:spPr>
          <a:xfrm>
            <a:off x="822960" y="58064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Each component has one specific responsibility — modern engineering systems are built by connecting specialized parts, not one monolithic program.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1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Physical Sensor — The Data Producer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152" name="Text 3"/>
          <p:cNvSpPr/>
          <p:nvPr/>
        </p:nvSpPr>
        <p:spPr>
          <a:xfrm>
            <a:off x="548640" y="1691640"/>
            <a:ext cx="5943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e293b"/>
                </a:solidFill>
                <a:latin typeface="Calibri"/>
                <a:ea typeface="Calibri"/>
              </a:rPr>
              <a:t>Everything begins with a physical sensor. Its only job is to measure a physical quantity — it knows nothing about websites, browsers, or graphs.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548640" y="28803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1c7293"/>
                </a:solidFill>
                <a:latin typeface="Calibri"/>
                <a:ea typeface="Calibri"/>
              </a:rPr>
              <a:t>EXAMPLES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548640" y="320040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Weather station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3566160" y="320040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Temperature sensor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548640" y="370332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Pressure transmitter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3566160" y="370332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Smart energy meter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48640" y="420624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Industrial PLC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3566160" y="420624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IoT development board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6903720" y="1691640"/>
            <a:ext cx="4754520" cy="4434480"/>
          </a:xfrm>
          <a:prstGeom prst="roundRect">
            <a:avLst>
              <a:gd name="adj" fmla="val 2062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7269480" y="196596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7423200" y="211968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163" name="Text 13"/>
          <p:cNvSpPr/>
          <p:nvPr/>
        </p:nvSpPr>
        <p:spPr>
          <a:xfrm>
            <a:off x="7406640" y="19933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2a541"/>
                </a:solidFill>
                <a:latin typeface="Calibri"/>
                <a:ea typeface="Calibri"/>
              </a:rPr>
              <a:t>Discussion Question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7178040" y="269748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Can a sensor display graphs?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7178040" y="3611880"/>
            <a:ext cx="4297680" cy="360"/>
          </a:xfrm>
          <a:prstGeom prst="line">
            <a:avLst/>
          </a:prstGeom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7178040" y="3794760"/>
            <a:ext cx="42973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Answer: No.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Sensors only generate measurements. Another system is responsible for visualization.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2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MQTT Broker — The Telemetry Pipe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173" name="Text 3"/>
          <p:cNvSpPr/>
          <p:nvPr/>
        </p:nvSpPr>
        <p:spPr>
          <a:xfrm>
            <a:off x="548640" y="1691640"/>
            <a:ext cx="59432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The sensor cannot send data directly to every application. Instead, it publishes to an MQTT Broker — think of it as a post office: the sensor delivers a message, and anyone interested can receive it.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548640" y="3200400"/>
            <a:ext cx="5943240" cy="1416960"/>
          </a:xfrm>
          <a:prstGeom prst="roundRect">
            <a:avLst>
              <a:gd name="adj" fmla="val 5161"/>
            </a:avLst>
          </a:prstGeom>
          <a:solidFill>
            <a:srgbClr val="0b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777240" y="3310200"/>
            <a:ext cx="54860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{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"temperature": 32.4,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"humidity": 71,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"pressure": 1008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}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548640" y="475488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The broker holds the message only briefly and immediately forwards it to all subscribers.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6903720" y="1691640"/>
            <a:ext cx="4754520" cy="214848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7201080" y="189756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1" descr="preencoded.png"/>
          <p:cNvPicPr/>
          <p:nvPr/>
        </p:nvPicPr>
        <p:blipFill>
          <a:blip r:embed="rId2"/>
          <a:stretch/>
        </p:blipFill>
        <p:spPr>
          <a:xfrm>
            <a:off x="7321680" y="201816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180" name="Text 9"/>
          <p:cNvSpPr/>
          <p:nvPr/>
        </p:nvSpPr>
        <p:spPr>
          <a:xfrm>
            <a:off x="7635240" y="18745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b1e3d"/>
                </a:solidFill>
                <a:latin typeface="Calibri"/>
                <a:ea typeface="Calibri"/>
              </a:rPr>
              <a:t>Why MQTT?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132320" y="2514600"/>
            <a:ext cx="4343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Very lightweight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Minimal network usage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Fast, low-power communication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Works on unreliable networks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Scales to thousands of devices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6903720" y="3977640"/>
            <a:ext cx="4754520" cy="2148480"/>
          </a:xfrm>
          <a:prstGeom prst="roundRect">
            <a:avLst>
              <a:gd name="adj" fmla="val 4255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7132320" y="411480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f2a541"/>
                </a:solidFill>
                <a:latin typeface="Calibri"/>
                <a:ea typeface="Calibri"/>
              </a:rPr>
              <a:t>Why not send sensor data directly to every browser?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7132320" y="4754880"/>
            <a:ext cx="4343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e2e8f0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Too many users to manage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e2e8f0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Poor scalability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e2e8f0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Security concerns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e2e8f0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High network overhead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3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Node.js Backend — The Bridge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191" name="Text 3"/>
          <p:cNvSpPr/>
          <p:nvPr/>
        </p:nvSpPr>
        <p:spPr>
          <a:xfrm>
            <a:off x="548640" y="1691640"/>
            <a:ext cx="5851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The backend is the intelligent bridge between engineering devices and web applications. It subscribes to the MQTT Broker and reacts the instant new data arrives.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548640" y="2971800"/>
            <a:ext cx="5851800" cy="4568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548640" y="297180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MQTT Message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1" descr="preencoded.png"/>
          <p:cNvPicPr/>
          <p:nvPr/>
        </p:nvPicPr>
        <p:blipFill>
          <a:blip r:embed="rId2"/>
          <a:stretch/>
        </p:blipFill>
        <p:spPr>
          <a:xfrm>
            <a:off x="3392280" y="345636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95" name="Shape 6"/>
          <p:cNvSpPr/>
          <p:nvPr/>
        </p:nvSpPr>
        <p:spPr>
          <a:xfrm>
            <a:off x="548640" y="3630240"/>
            <a:ext cx="5851800" cy="45684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548640" y="363024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Node.js receives it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Image 2" descr="preencoded.png"/>
          <p:cNvPicPr/>
          <p:nvPr/>
        </p:nvPicPr>
        <p:blipFill>
          <a:blip r:embed="rId3"/>
          <a:stretch/>
        </p:blipFill>
        <p:spPr>
          <a:xfrm>
            <a:off x="3392280" y="411480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98" name="Shape 8"/>
          <p:cNvSpPr/>
          <p:nvPr/>
        </p:nvSpPr>
        <p:spPr>
          <a:xfrm>
            <a:off x="548640" y="4288680"/>
            <a:ext cx="5851800" cy="4568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548640" y="428868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Processes the data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mage 3" descr="preencoded.png"/>
          <p:cNvPicPr/>
          <p:nvPr/>
        </p:nvPicPr>
        <p:blipFill>
          <a:blip r:embed="rId4"/>
          <a:stretch/>
        </p:blipFill>
        <p:spPr>
          <a:xfrm>
            <a:off x="3392280" y="477324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201" name="Shape 10"/>
          <p:cNvSpPr/>
          <p:nvPr/>
        </p:nvSpPr>
        <p:spPr>
          <a:xfrm>
            <a:off x="548640" y="4946760"/>
            <a:ext cx="5851800" cy="45684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548640" y="494676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Sends it to connected browsers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2"/>
          <p:cNvSpPr/>
          <p:nvPr/>
        </p:nvSpPr>
        <p:spPr>
          <a:xfrm>
            <a:off x="6903720" y="1691640"/>
            <a:ext cx="4754520" cy="2285640"/>
          </a:xfrm>
          <a:prstGeom prst="roundRect">
            <a:avLst>
              <a:gd name="adj" fmla="val 4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7201080" y="189756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4" descr="preencoded.png"/>
          <p:cNvPicPr/>
          <p:nvPr/>
        </p:nvPicPr>
        <p:blipFill>
          <a:blip r:embed="rId5"/>
          <a:stretch/>
        </p:blipFill>
        <p:spPr>
          <a:xfrm>
            <a:off x="7321680" y="201816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206" name="Text 14"/>
          <p:cNvSpPr/>
          <p:nvPr/>
        </p:nvSpPr>
        <p:spPr>
          <a:xfrm>
            <a:off x="7635240" y="18745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e3d"/>
                </a:solidFill>
                <a:latin typeface="Calibri"/>
                <a:ea typeface="Calibri"/>
              </a:rPr>
              <a:t>The Backend Also May…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7132320" y="2514600"/>
            <a:ext cx="43430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Validate incoming data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Remove incorrect values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Add timestamps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Store data in a database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buClr>
                <a:srgbClr val="1e293b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Generate alerts / calculations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6903720" y="4114800"/>
            <a:ext cx="4754520" cy="2011320"/>
          </a:xfrm>
          <a:prstGeom prst="roundRect">
            <a:avLst>
              <a:gd name="adj" fmla="val 4545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7132320" y="425196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2a541"/>
                </a:solidFill>
                <a:latin typeface="Calibri"/>
                <a:ea typeface="Calibri"/>
              </a:rPr>
              <a:t>Why Node.js?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7132320" y="4617720"/>
            <a:ext cx="43430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Calibri"/>
              </a:rPr>
              <a:t>Its event-driven, non-blocking architecture responds to events as they occur rather than waiting for one task to finish — ideal for continuous sensor streams and many simultaneous browser connections.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8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4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WebSockets — The Persistent Connection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217" name="Shape 3"/>
          <p:cNvSpPr/>
          <p:nvPr/>
        </p:nvSpPr>
        <p:spPr>
          <a:xfrm>
            <a:off x="548640" y="1737360"/>
            <a:ext cx="5211720" cy="4297320"/>
          </a:xfrm>
          <a:prstGeom prst="roundRect">
            <a:avLst>
              <a:gd name="adj" fmla="val 2128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822960" y="19202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e3d"/>
                </a:solidFill>
                <a:latin typeface="Calibri"/>
                <a:ea typeface="Calibri"/>
              </a:rPr>
              <a:t>Traditional Request → Response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1463040" y="251460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1463040" y="251460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Browser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Image 1" descr="preencoded.png"/>
          <p:cNvPicPr/>
          <p:nvPr/>
        </p:nvPicPr>
        <p:blipFill>
          <a:blip r:embed="rId2"/>
          <a:stretch/>
        </p:blipFill>
        <p:spPr>
          <a:xfrm>
            <a:off x="2807280" y="299016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222" name="Shape 7"/>
          <p:cNvSpPr/>
          <p:nvPr/>
        </p:nvSpPr>
        <p:spPr>
          <a:xfrm>
            <a:off x="1463040" y="317304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1463040" y="31730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Request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2" descr="preencoded.png"/>
          <p:cNvPicPr/>
          <p:nvPr/>
        </p:nvPicPr>
        <p:blipFill>
          <a:blip r:embed="rId3"/>
          <a:stretch/>
        </p:blipFill>
        <p:spPr>
          <a:xfrm>
            <a:off x="2807280" y="364860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225" name="Shape 9"/>
          <p:cNvSpPr/>
          <p:nvPr/>
        </p:nvSpPr>
        <p:spPr>
          <a:xfrm>
            <a:off x="1463040" y="383148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1463040" y="38314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Server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Image 3" descr="preencoded.png"/>
          <p:cNvPicPr/>
          <p:nvPr/>
        </p:nvPicPr>
        <p:blipFill>
          <a:blip r:embed="rId4"/>
          <a:stretch/>
        </p:blipFill>
        <p:spPr>
          <a:xfrm>
            <a:off x="2807280" y="430668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228" name="Shape 11"/>
          <p:cNvSpPr/>
          <p:nvPr/>
        </p:nvSpPr>
        <p:spPr>
          <a:xfrm>
            <a:off x="1463040" y="448956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1463040" y="448956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Calibri"/>
                <a:ea typeface="Calibri"/>
              </a:rPr>
              <a:t>Response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822960" y="534924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This repeats every time new data is needed — continuously refreshing every second is inefficient.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6035040" y="1737360"/>
            <a:ext cx="5623200" cy="4297320"/>
          </a:xfrm>
          <a:prstGeom prst="roundRect">
            <a:avLst>
              <a:gd name="adj" fmla="val 2128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6309360" y="19202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WebSockets Solve This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6"/>
          <p:cNvSpPr/>
          <p:nvPr/>
        </p:nvSpPr>
        <p:spPr>
          <a:xfrm>
            <a:off x="6835320" y="26748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Image 4" descr="preencoded.png"/>
          <p:cNvPicPr/>
          <p:nvPr/>
        </p:nvPicPr>
        <p:blipFill>
          <a:blip r:embed="rId5"/>
          <a:stretch/>
        </p:blipFill>
        <p:spPr>
          <a:xfrm>
            <a:off x="7021800" y="28612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235" name="Text 17"/>
          <p:cNvSpPr/>
          <p:nvPr/>
        </p:nvSpPr>
        <p:spPr>
          <a:xfrm>
            <a:off x="6583680" y="35661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Browser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10035720" y="2674800"/>
            <a:ext cx="776880" cy="7768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Image 5" descr="preencoded.png"/>
          <p:cNvPicPr/>
          <p:nvPr/>
        </p:nvPicPr>
        <p:blipFill>
          <a:blip r:embed="rId6"/>
          <a:stretch/>
        </p:blipFill>
        <p:spPr>
          <a:xfrm>
            <a:off x="10222200" y="286128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238" name="Text 19"/>
          <p:cNvSpPr/>
          <p:nvPr/>
        </p:nvSpPr>
        <p:spPr>
          <a:xfrm>
            <a:off x="9784080" y="35661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Node.js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7607520" y="3063240"/>
            <a:ext cx="2423160" cy="360"/>
          </a:xfrm>
          <a:prstGeom prst="line">
            <a:avLst/>
          </a:prstGeom>
          <a:ln w="31750">
            <a:solidFill>
              <a:srgbClr val="f2a5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7223760" y="27432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f2a541"/>
                </a:solidFill>
                <a:latin typeface="Calibri"/>
                <a:ea typeface="Calibri"/>
              </a:rPr>
              <a:t>PERSISTENT CONNECTION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6309360" y="4297680"/>
            <a:ext cx="5120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Calibri"/>
              </a:rPr>
              <a:t>Once established, the browser and server stay continuously connected. New data is pushed to the browser the instant it arrives — no new request needed. This is server push communication.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6309360" y="55321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Used by: stock markets · multiplayer games · industrial dashboards · live monitoring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4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5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React Frontend — The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249" name="Text 3"/>
          <p:cNvSpPr/>
          <p:nvPr/>
        </p:nvSpPr>
        <p:spPr>
          <a:xfrm>
            <a:off x="548640" y="1691640"/>
            <a:ext cx="10149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The browser receives new sensor values through the WebSocket connection. React automatically updates the user interface whenever new data arrives — no manual refresh required. This is reactive rendering.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1705320" y="3200400"/>
            <a:ext cx="3108600" cy="2377080"/>
          </a:xfrm>
          <a:prstGeom prst="roundRect">
            <a:avLst>
              <a:gd name="adj" fmla="val 3846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705320" y="34290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64748b"/>
                </a:solidFill>
                <a:latin typeface="Calibri"/>
                <a:ea typeface="Calibri"/>
              </a:rPr>
              <a:t>OLD TEMPERATURE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1705320" y="384048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065a82"/>
                </a:solidFill>
                <a:latin typeface="Cambria"/>
                <a:ea typeface="Cambria"/>
              </a:rPr>
              <a:t>32.4°C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 1" descr="preencoded.png"/>
          <p:cNvPicPr/>
          <p:nvPr/>
        </p:nvPicPr>
        <p:blipFill>
          <a:blip r:embed="rId2"/>
          <a:stretch/>
        </p:blipFill>
        <p:spPr>
          <a:xfrm>
            <a:off x="5042880" y="38862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254" name="Text 7"/>
          <p:cNvSpPr/>
          <p:nvPr/>
        </p:nvSpPr>
        <p:spPr>
          <a:xfrm>
            <a:off x="4677120" y="4572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New data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arrives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5911560" y="3200400"/>
            <a:ext cx="3108600" cy="237708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911560" y="34290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adcfc"/>
                </a:solidFill>
                <a:latin typeface="Calibri"/>
                <a:ea typeface="Calibri"/>
              </a:rPr>
              <a:t>NEW TEMPERATURE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5911560" y="384048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32.5°C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5911560" y="51206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541"/>
                </a:solidFill>
                <a:latin typeface="Calibri"/>
                <a:ea typeface="Calibri"/>
              </a:rPr>
              <a:t>Screen updates automatically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STEP 6 OF 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Chart.js — Visualizing the Data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10561320" y="548640"/>
            <a:ext cx="822600" cy="822600"/>
          </a:xfrm>
          <a:prstGeom prst="ellipse">
            <a:avLst/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Image 0" descr="preencoded.png"/>
          <p:cNvPicPr/>
          <p:nvPr/>
        </p:nvPicPr>
        <p:blipFill>
          <a:blip r:embed="rId1"/>
          <a:stretch/>
        </p:blipFill>
        <p:spPr>
          <a:xfrm>
            <a:off x="10758960" y="746280"/>
            <a:ext cx="427680" cy="427680"/>
          </a:xfrm>
          <a:prstGeom prst="rect">
            <a:avLst/>
          </a:prstGeom>
          <a:ln w="0">
            <a:noFill/>
          </a:ln>
        </p:spPr>
      </p:pic>
      <p:sp>
        <p:nvSpPr>
          <p:cNvPr id="265" name="Text 3"/>
          <p:cNvSpPr/>
          <p:nvPr/>
        </p:nvSpPr>
        <p:spPr>
          <a:xfrm>
            <a:off x="548640" y="169164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Numbers alone are difficult to interpret. Charts help engineers quickly recognize trends and patterns — rising temperatures, sudden drops, oscillations, or abnormal behavior.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548640" y="32004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c7293"/>
                </a:solidFill>
                <a:latin typeface="Calibri"/>
                <a:ea typeface="Calibri"/>
              </a:rPr>
              <a:t>INSTEAD OF READING RAW NUMBERS…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548640" y="3566160"/>
            <a:ext cx="868320" cy="50256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548640" y="356616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32.4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7"/>
          <p:cNvSpPr/>
          <p:nvPr/>
        </p:nvSpPr>
        <p:spPr>
          <a:xfrm>
            <a:off x="1554480" y="3566160"/>
            <a:ext cx="868320" cy="50256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1554480" y="356616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32.5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2560320" y="3566160"/>
            <a:ext cx="868320" cy="50256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2560320" y="356616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32.7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1"/>
          <p:cNvSpPr/>
          <p:nvPr/>
        </p:nvSpPr>
        <p:spPr>
          <a:xfrm>
            <a:off x="3566160" y="3566160"/>
            <a:ext cx="868320" cy="50256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3566160" y="356616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32.8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4572000" y="3566160"/>
            <a:ext cx="868320" cy="50256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4572000" y="356616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ourier New"/>
                <a:ea typeface="Courier New"/>
              </a:rPr>
              <a:t>32.6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548640" y="434340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…</a:t>
            </a:r>
            <a:r>
              <a:rPr b="0" i="1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Chart.js draws a continuously updating line graph that reveals the trend at a glance.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6"/>
          <p:cNvSpPr/>
          <p:nvPr/>
        </p:nvSpPr>
        <p:spPr>
          <a:xfrm>
            <a:off x="6126480" y="1691640"/>
            <a:ext cx="5531760" cy="4480200"/>
          </a:xfrm>
          <a:prstGeom prst="roundRect">
            <a:avLst>
              <a:gd name="adj" fmla="val 2041"/>
            </a:avLst>
          </a:prstGeom>
          <a:solidFill>
            <a:srgbClr val="0b1e3d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79" name="Chart 0"/>
          <p:cNvGraphicFramePr/>
          <p:nvPr/>
        </p:nvGraphicFramePr>
        <p:xfrm>
          <a:off x="6355080" y="1965960"/>
          <a:ext cx="507456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0" name="Text 17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11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548640" y="36576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541"/>
                </a:solidFill>
                <a:latin typeface="Calibri"/>
                <a:ea typeface="Calibri"/>
              </a:rPr>
              <a:t>PUTTING EVERYTHING TOGETHER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548640" y="64008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The Complete SignalDash Workflow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2162520" y="141732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2272320" y="141732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2848320" y="141732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Sensor measures temperature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2162520" y="205740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2272320" y="205740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7"/>
          <p:cNvSpPr/>
          <p:nvPr/>
        </p:nvSpPr>
        <p:spPr>
          <a:xfrm>
            <a:off x="2848320" y="205740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Publishes MQTT message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2162520" y="269748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9"/>
          <p:cNvSpPr/>
          <p:nvPr/>
        </p:nvSpPr>
        <p:spPr>
          <a:xfrm>
            <a:off x="2272320" y="269748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0"/>
          <p:cNvSpPr/>
          <p:nvPr/>
        </p:nvSpPr>
        <p:spPr>
          <a:xfrm>
            <a:off x="2848320" y="269748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MQTT Broker receives data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1"/>
          <p:cNvSpPr/>
          <p:nvPr/>
        </p:nvSpPr>
        <p:spPr>
          <a:xfrm>
            <a:off x="2162520" y="333756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2"/>
          <p:cNvSpPr/>
          <p:nvPr/>
        </p:nvSpPr>
        <p:spPr>
          <a:xfrm>
            <a:off x="2272320" y="333756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4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3"/>
          <p:cNvSpPr/>
          <p:nvPr/>
        </p:nvSpPr>
        <p:spPr>
          <a:xfrm>
            <a:off x="2848320" y="333756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Node.js subscribes to topic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4"/>
          <p:cNvSpPr/>
          <p:nvPr/>
        </p:nvSpPr>
        <p:spPr>
          <a:xfrm>
            <a:off x="2162520" y="397764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2272320" y="397764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5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6"/>
          <p:cNvSpPr/>
          <p:nvPr/>
        </p:nvSpPr>
        <p:spPr>
          <a:xfrm>
            <a:off x="2848320" y="397764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Node.js sends data via WebSocket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7"/>
          <p:cNvSpPr/>
          <p:nvPr/>
        </p:nvSpPr>
        <p:spPr>
          <a:xfrm>
            <a:off x="2162520" y="461772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8"/>
          <p:cNvSpPr/>
          <p:nvPr/>
        </p:nvSpPr>
        <p:spPr>
          <a:xfrm>
            <a:off x="2272320" y="461772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541"/>
                </a:solidFill>
                <a:latin typeface="Calibri"/>
                <a:ea typeface="Calibri"/>
              </a:rPr>
              <a:t>6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9"/>
          <p:cNvSpPr/>
          <p:nvPr/>
        </p:nvSpPr>
        <p:spPr>
          <a:xfrm>
            <a:off x="2848320" y="461772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React receives live data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20"/>
          <p:cNvSpPr/>
          <p:nvPr/>
        </p:nvSpPr>
        <p:spPr>
          <a:xfrm>
            <a:off x="2162520" y="5257800"/>
            <a:ext cx="7863480" cy="529920"/>
          </a:xfrm>
          <a:prstGeom prst="roundRect">
            <a:avLst>
              <a:gd name="adj" fmla="val 60345"/>
            </a:avLst>
          </a:prstGeom>
          <a:solidFill>
            <a:srgbClr val="f2a5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1"/>
          <p:cNvSpPr/>
          <p:nvPr/>
        </p:nvSpPr>
        <p:spPr>
          <a:xfrm>
            <a:off x="2272320" y="5257800"/>
            <a:ext cx="456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e3d"/>
                </a:solidFill>
                <a:latin typeface="Calibri"/>
                <a:ea typeface="Calibri"/>
              </a:rPr>
              <a:t>7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2"/>
          <p:cNvSpPr/>
          <p:nvPr/>
        </p:nvSpPr>
        <p:spPr>
          <a:xfrm>
            <a:off x="2848320" y="525780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1e3d"/>
                </a:solidFill>
                <a:latin typeface="Calibri"/>
                <a:ea typeface="Calibri"/>
              </a:rPr>
              <a:t>Chart.js updates the graph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3"/>
          <p:cNvSpPr/>
          <p:nvPr/>
        </p:nvSpPr>
        <p:spPr>
          <a:xfrm>
            <a:off x="822960" y="5989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Every new sensor reading follows the same path — creating a seamless real-time monitoring experience.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REFERENCE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Key Terms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548640" y="169164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731520" y="169164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Sensor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2286000" y="169164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Produces physical measurements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5"/>
          <p:cNvSpPr/>
          <p:nvPr/>
        </p:nvSpPr>
        <p:spPr>
          <a:xfrm>
            <a:off x="548640" y="252360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731520" y="252360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Telemetry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2286000" y="252360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Automatic transmission of measurement data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8"/>
          <p:cNvSpPr/>
          <p:nvPr/>
        </p:nvSpPr>
        <p:spPr>
          <a:xfrm>
            <a:off x="548640" y="335592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731520" y="335592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MQTT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2286000" y="33559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Lightweight messaging protocol for IoT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1"/>
          <p:cNvSpPr/>
          <p:nvPr/>
        </p:nvSpPr>
        <p:spPr>
          <a:xfrm>
            <a:off x="548640" y="418788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731520" y="418788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Broker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2286000" y="41878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Central message distribution service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4"/>
          <p:cNvSpPr/>
          <p:nvPr/>
        </p:nvSpPr>
        <p:spPr>
          <a:xfrm>
            <a:off x="548640" y="502020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731520" y="502020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Publisher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6"/>
          <p:cNvSpPr/>
          <p:nvPr/>
        </p:nvSpPr>
        <p:spPr>
          <a:xfrm>
            <a:off x="2286000" y="502020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Device that sends data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7"/>
          <p:cNvSpPr/>
          <p:nvPr/>
        </p:nvSpPr>
        <p:spPr>
          <a:xfrm>
            <a:off x="6400800" y="169164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6583680" y="169164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Subscriber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9"/>
          <p:cNvSpPr/>
          <p:nvPr/>
        </p:nvSpPr>
        <p:spPr>
          <a:xfrm>
            <a:off x="8138160" y="169164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Application that receives data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0"/>
          <p:cNvSpPr/>
          <p:nvPr/>
        </p:nvSpPr>
        <p:spPr>
          <a:xfrm>
            <a:off x="6400800" y="252360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6583680" y="252360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Node.js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8138160" y="252360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Backend runtime that processes events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3"/>
          <p:cNvSpPr/>
          <p:nvPr/>
        </p:nvSpPr>
        <p:spPr>
          <a:xfrm>
            <a:off x="6400800" y="335592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4"/>
          <p:cNvSpPr/>
          <p:nvPr/>
        </p:nvSpPr>
        <p:spPr>
          <a:xfrm>
            <a:off x="6583680" y="335592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WebSocket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8138160" y="33559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Persistent two-way communication protocol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6"/>
          <p:cNvSpPr/>
          <p:nvPr/>
        </p:nvSpPr>
        <p:spPr>
          <a:xfrm>
            <a:off x="6400800" y="418788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7"/>
          <p:cNvSpPr/>
          <p:nvPr/>
        </p:nvSpPr>
        <p:spPr>
          <a:xfrm>
            <a:off x="6583680" y="418788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React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8"/>
          <p:cNvSpPr/>
          <p:nvPr/>
        </p:nvSpPr>
        <p:spPr>
          <a:xfrm>
            <a:off x="8138160" y="41878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Frontend library for dynamic user interfaces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9"/>
          <p:cNvSpPr/>
          <p:nvPr/>
        </p:nvSpPr>
        <p:spPr>
          <a:xfrm>
            <a:off x="6400800" y="5020200"/>
            <a:ext cx="5394600" cy="685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0"/>
          <p:cNvSpPr/>
          <p:nvPr/>
        </p:nvSpPr>
        <p:spPr>
          <a:xfrm>
            <a:off x="6583680" y="5020200"/>
            <a:ext cx="1462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Chart.js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1"/>
          <p:cNvSpPr/>
          <p:nvPr/>
        </p:nvSpPr>
        <p:spPr>
          <a:xfrm>
            <a:off x="8138160" y="502020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Calibri"/>
              </a:rPr>
              <a:t>JavaScript library for interactive charts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2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3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DISCUSSION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1e3d"/>
                </a:solidFill>
                <a:latin typeface="Cambria"/>
                <a:ea typeface="Cambria"/>
              </a:rPr>
              <a:t>Think Like an Engineer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548640" y="173736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754560" y="189756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Image 0" descr="preencoded.png"/>
          <p:cNvPicPr/>
          <p:nvPr/>
        </p:nvPicPr>
        <p:blipFill>
          <a:blip r:embed="rId1"/>
          <a:stretch/>
        </p:blipFill>
        <p:spPr>
          <a:xfrm>
            <a:off x="897120" y="204012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45" name="Text 4"/>
          <p:cNvSpPr/>
          <p:nvPr/>
        </p:nvSpPr>
        <p:spPr>
          <a:xfrm>
            <a:off x="822960" y="251460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Where does the data originate?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5"/>
          <p:cNvSpPr/>
          <p:nvPr/>
        </p:nvSpPr>
        <p:spPr>
          <a:xfrm>
            <a:off x="6217920" y="173736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6423840" y="189756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Image 1" descr="preencoded.png"/>
          <p:cNvPicPr/>
          <p:nvPr/>
        </p:nvPicPr>
        <p:blipFill>
          <a:blip r:embed="rId2"/>
          <a:stretch/>
        </p:blipFill>
        <p:spPr>
          <a:xfrm>
            <a:off x="6566400" y="204012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49" name="Text 7"/>
          <p:cNvSpPr/>
          <p:nvPr/>
        </p:nvSpPr>
        <p:spPr>
          <a:xfrm>
            <a:off x="6492240" y="251460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Which component transports the data?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548640" y="315468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754560" y="331488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2" descr="preencoded.png"/>
          <p:cNvPicPr/>
          <p:nvPr/>
        </p:nvPicPr>
        <p:blipFill>
          <a:blip r:embed="rId3"/>
          <a:stretch/>
        </p:blipFill>
        <p:spPr>
          <a:xfrm>
            <a:off x="897120" y="345744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53" name="Text 10"/>
          <p:cNvSpPr/>
          <p:nvPr/>
        </p:nvSpPr>
        <p:spPr>
          <a:xfrm>
            <a:off x="822960" y="39319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Who processes the data?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6217920" y="315468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6423840" y="331488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Image 3" descr="preencoded.png"/>
          <p:cNvPicPr/>
          <p:nvPr/>
        </p:nvPicPr>
        <p:blipFill>
          <a:blip r:embed="rId4"/>
          <a:stretch/>
        </p:blipFill>
        <p:spPr>
          <a:xfrm>
            <a:off x="6566400" y="345744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57" name="Text 13"/>
          <p:cNvSpPr/>
          <p:nvPr/>
        </p:nvSpPr>
        <p:spPr>
          <a:xfrm>
            <a:off x="6492240" y="39319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How does the browser receive updates instantly?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4"/>
          <p:cNvSpPr/>
          <p:nvPr/>
        </p:nvSpPr>
        <p:spPr>
          <a:xfrm>
            <a:off x="548640" y="457200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5"/>
          <p:cNvSpPr/>
          <p:nvPr/>
        </p:nvSpPr>
        <p:spPr>
          <a:xfrm>
            <a:off x="754560" y="473220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Image 4" descr="preencoded.png"/>
          <p:cNvPicPr/>
          <p:nvPr/>
        </p:nvPicPr>
        <p:blipFill>
          <a:blip r:embed="rId5"/>
          <a:stretch/>
        </p:blipFill>
        <p:spPr>
          <a:xfrm>
            <a:off x="897120" y="487476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61" name="Text 16"/>
          <p:cNvSpPr/>
          <p:nvPr/>
        </p:nvSpPr>
        <p:spPr>
          <a:xfrm>
            <a:off x="822960" y="53492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Why is a real-time architecture preferable to repeatedly refreshing a webpage?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7"/>
          <p:cNvSpPr/>
          <p:nvPr/>
        </p:nvSpPr>
        <p:spPr>
          <a:xfrm>
            <a:off x="6217920" y="4572000"/>
            <a:ext cx="5166000" cy="1234080"/>
          </a:xfrm>
          <a:prstGeom prst="roundRect">
            <a:avLst>
              <a:gd name="adj" fmla="val 7407"/>
            </a:avLst>
          </a:prstGeom>
          <a:solidFill>
            <a:srgbClr val="eef4f8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6423840" y="473220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4" name="Image 5" descr="preencoded.png"/>
          <p:cNvPicPr/>
          <p:nvPr/>
        </p:nvPicPr>
        <p:blipFill>
          <a:blip r:embed="rId6"/>
          <a:stretch/>
        </p:blipFill>
        <p:spPr>
          <a:xfrm>
            <a:off x="6566400" y="487476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365" name="Text 19"/>
          <p:cNvSpPr/>
          <p:nvPr/>
        </p:nvSpPr>
        <p:spPr>
          <a:xfrm>
            <a:off x="6492240" y="53492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What might happen if the MQTT Broker becomes unavailable?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0"/>
          <p:cNvSpPr/>
          <p:nvPr/>
        </p:nvSpPr>
        <p:spPr>
          <a:xfrm>
            <a:off x="45720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CO1 · Module 1 · Lab 1 — SignalDash Architecture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1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-1371600" y="4114800"/>
            <a:ext cx="5486040" cy="5486040"/>
          </a:xfrm>
          <a:prstGeom prst="ellipse">
            <a:avLst/>
          </a:prstGeom>
          <a:solidFill>
            <a:srgbClr val="065a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822960" y="10972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f2a541"/>
                </a:solidFill>
                <a:latin typeface="Calibri"/>
                <a:ea typeface="Calibri"/>
              </a:rPr>
              <a:t>LAB PREPARATION ACTIVITY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9966960" y="822960"/>
            <a:ext cx="914040" cy="9140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0" descr="preencoded.png"/>
          <p:cNvPicPr/>
          <p:nvPr/>
        </p:nvPicPr>
        <p:blipFill>
          <a:blip r:embed="rId1"/>
          <a:stretch/>
        </p:blipFill>
        <p:spPr>
          <a:xfrm>
            <a:off x="10186560" y="104256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372" name="Text 3"/>
          <p:cNvSpPr/>
          <p:nvPr/>
        </p:nvSpPr>
        <p:spPr>
          <a:xfrm>
            <a:off x="822960" y="1508760"/>
            <a:ext cx="9143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Trace the Journey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822960" y="2514600"/>
            <a:ext cx="9875160" cy="1828440"/>
          </a:xfrm>
          <a:prstGeom prst="roundRect">
            <a:avLst>
              <a:gd name="adj" fmla="val 5000"/>
            </a:avLst>
          </a:prstGeom>
          <a:solidFill>
            <a:srgbClr val="1230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1143000" y="2697480"/>
            <a:ext cx="9235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Ask students to trace the journey of a single temperature reading from the sensor to the graph, and identify the responsibility of each component in the architecture.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822960" y="4617720"/>
            <a:ext cx="9875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cadcfc"/>
                </a:solidFill>
                <a:latin typeface="Calibri"/>
                <a:ea typeface="Calibri"/>
              </a:rPr>
              <a:t>This reinforces the idea that every technology in SignalDash has a distinct role — modern engineering applications are built by connecting specialized components, not by relying on a single monolithic program. This systems-thinking mindset mirrors industry practice and will make the subsequent lab sessions much easier to follow.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LibreOffice/7.6.7.2$Linux_X86_64 LibreOffice_project/60$Build-2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2026-07-09T11:39:42Z</dcterms:created>
  <dc:creator>CO1 - React.js Course</dc:creator>
  <dc:description/>
  <dc:language>en-IN</dc:language>
  <cp:lastModifiedBy/>
  <dcterms:modified xsi:type="dcterms:W3CDTF">2026-07-21T16:56:48Z</dcterms:modified>
  <cp:revision>2</cp:revision>
  <dc:subject>PptxGenJS Presentation</dc:subject>
  <dc:title>SignalDash Architecture - CO1 Module 1 Lab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