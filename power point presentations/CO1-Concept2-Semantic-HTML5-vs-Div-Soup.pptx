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D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21D33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777240"/>
            <a:ext cx="128016" cy="128016"/>
          </a:xfrm>
          <a:prstGeom prst="ellipse">
            <a:avLst/>
          </a:prstGeom>
          <a:solidFill>
            <a:srgbClr val="16DB93"/>
          </a:solidFill>
          <a:ln/>
        </p:spPr>
      </p:sp>
      <p:sp>
        <p:nvSpPr>
          <p:cNvPr id="4" name="Text 2"/>
          <p:cNvSpPr/>
          <p:nvPr/>
        </p:nvSpPr>
        <p:spPr>
          <a:xfrm>
            <a:off x="1024128" y="731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6DB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22960" y="21945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3E9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CO1  ·  MODULE 2  ·  LAB 2  ·  CONCEPT 2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265176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Semantic HTML5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777240" y="361188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5C6B8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vs. </a:t>
            </a:r>
            <a:pPr indent="0" marL="0">
              <a:buNone/>
            </a:pPr>
            <a:r>
              <a:rPr lang="en-US" sz="4000" b="1" i="1" dirty="0">
                <a:solidFill>
                  <a:srgbClr val="16DB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"Div Soup"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822960" y="457200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EB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the SignalDash engineering dashboard with meaningful, accessible HTML structure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6035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E9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Duration: 30–40 minutes  ·  Discussion before coding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Outcomes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this lab discussion, students will be able to: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737360"/>
            <a:ext cx="457200" cy="45720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737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417320" y="1691640"/>
            <a:ext cx="9692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purpose of Semantic HTML5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2606040"/>
            <a:ext cx="457200" cy="45720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606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417320" y="2560320"/>
            <a:ext cx="9692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Differentiate semantic elements from generic &lt;div&gt; elements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31520" y="3474720"/>
            <a:ext cx="457200" cy="45720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3474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417320" y="3429000"/>
            <a:ext cx="9692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why semantic structure improves accessibility and maintainability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31520" y="4343400"/>
            <a:ext cx="457200" cy="45720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4343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417320" y="4297680"/>
            <a:ext cx="9692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the basic layout of the SignalDash dashboard using semantic HTML5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31520" y="5212080"/>
            <a:ext cx="457200" cy="45720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5212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417320" y="5166360"/>
            <a:ext cx="9692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Appreciate how semantic HTML benefits users, developers, and search engines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· Introduction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5760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web applications evolved, developers leaned on the generic </a:t>
            </a:r>
            <a:pPr indent="0" marL="0">
              <a:buNone/>
            </a:pPr>
            <a:r>
              <a:rPr lang="en-US" sz="1500" b="1" dirty="0">
                <a:solidFill>
                  <a:srgbClr val="3E92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&lt;div&gt;</a:t>
            </a:r>
            <a:pPr indent="0" marL="0">
              <a:buNone/>
            </a:pP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element to organize layouts.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40080" y="2194560"/>
            <a:ext cx="5760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browser could display the page — but it could not understand the meaning of its content.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3200400"/>
            <a:ext cx="54864" cy="2103120"/>
          </a:xfrm>
          <a:prstGeom prst="rect">
            <a:avLst/>
          </a:prstGeom>
          <a:solidFill>
            <a:srgbClr val="16DB93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3200400"/>
            <a:ext cx="54864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Imagine reading a book where every paragraph, heading, table, and figure is simply labeled </a:t>
            </a:r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"Box."</a:t>
            </a:r>
            <a:pPr indent="0" marL="0">
              <a:buNone/>
            </a:pP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human could eventually understand it — but a computer, or someone using assistive technology, would struggle.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949440" y="1280160"/>
            <a:ext cx="4572000" cy="4572000"/>
          </a:xfrm>
          <a:prstGeom prst="roundRect">
            <a:avLst>
              <a:gd name="adj" fmla="val 1600"/>
            </a:avLst>
          </a:prstGeom>
          <a:solidFill>
            <a:srgbClr val="F4F7FB"/>
          </a:solidFill>
          <a:ln w="12700">
            <a:solidFill>
              <a:srgbClr val="D7E1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49440" y="15087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5C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PAGE MADE OF “BOX”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406640" y="2057400"/>
            <a:ext cx="365760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C7D3E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06640" y="205740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406640" y="2770632"/>
            <a:ext cx="365760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C7D3E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06640" y="2770632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406640" y="3483864"/>
            <a:ext cx="365760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C7D3E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06640" y="3483864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406640" y="4197096"/>
            <a:ext cx="365760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C7D3E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06640" y="4197096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406640" y="4910328"/>
            <a:ext cx="365760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C7D3E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06640" y="4910328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9AA7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949440" y="53949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C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meaning. No structure. Just containers.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· What is "Div Soup"?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early web development, almost every part of a page was wrapped in &lt;div&gt; elements — the browser can't tell a header from a footer.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94960" cy="4206240"/>
          </a:xfrm>
          <a:prstGeom prst="roundRect">
            <a:avLst>
              <a:gd name="adj" fmla="val 1304"/>
            </a:avLst>
          </a:prstGeom>
          <a:solidFill>
            <a:srgbClr val="121D33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2148840"/>
            <a:ext cx="475488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FE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&lt;div&gt;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FE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&lt;div&gt;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FE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&lt;div&gt;SignalDash&lt;/div&gt;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FE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&lt;/div&gt;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FE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&lt;div&gt;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FE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&lt;div&gt;Navigation&lt;/div&gt;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FE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&lt;/div&gt;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FE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&lt;div&gt;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FE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&lt;div&gt;Temperature&lt;/div&gt;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FE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&lt;/div&gt;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FE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&lt;div&gt;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FE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&lt;div&gt;Footer&lt;/div&gt;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FE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&lt;/div&gt;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FE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&lt;/div&gt;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309360" y="187452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309360" y="2331720"/>
            <a:ext cx="52120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Although this layout works visually, the browser cannot distinguish between a header, navigation menu, content area, or footer — every section is just a generic container.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309360" y="3703320"/>
            <a:ext cx="5212080" cy="1463040"/>
          </a:xfrm>
          <a:prstGeom prst="roundRect">
            <a:avLst>
              <a:gd name="adj" fmla="val 3750"/>
            </a:avLst>
          </a:prstGeom>
          <a:solidFill>
            <a:srgbClr val="EAF1FA"/>
          </a:solidFill>
          <a:ln/>
        </p:spPr>
      </p:sp>
      <p:sp>
        <p:nvSpPr>
          <p:cNvPr id="9" name="Text 7"/>
          <p:cNvSpPr/>
          <p:nvPr/>
        </p:nvSpPr>
        <p:spPr>
          <a:xfrm>
            <a:off x="6583680" y="3886200"/>
            <a:ext cx="4663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lack of meaning makes webpages harder to interpret, maintain, and navigate — informally known as “Div Soup.”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21D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6DB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QUESTION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1097280"/>
            <a:ext cx="103327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 every room in a hospital were simply labeled “Room,” how would visitors know which is the emergency ward, pharmacy, or operation theatre?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822960" y="3108960"/>
            <a:ext cx="1965960" cy="1097280"/>
          </a:xfrm>
          <a:prstGeom prst="roundRect">
            <a:avLst>
              <a:gd name="adj" fmla="val 5000"/>
            </a:avLst>
          </a:prstGeom>
          <a:solidFill>
            <a:srgbClr val="1B2A4A"/>
          </a:solidFill>
          <a:ln w="12700">
            <a:solidFill>
              <a:srgbClr val="3A4A6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3108960"/>
            <a:ext cx="1965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8FA1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017520" y="3108960"/>
            <a:ext cx="1965960" cy="1097280"/>
          </a:xfrm>
          <a:prstGeom prst="roundRect">
            <a:avLst>
              <a:gd name="adj" fmla="val 5000"/>
            </a:avLst>
          </a:prstGeom>
          <a:solidFill>
            <a:srgbClr val="1B2A4A"/>
          </a:solidFill>
          <a:ln w="12700">
            <a:solidFill>
              <a:srgbClr val="3A4A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017520" y="3108960"/>
            <a:ext cx="1965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8FA1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212080" y="3108960"/>
            <a:ext cx="1965960" cy="1097280"/>
          </a:xfrm>
          <a:prstGeom prst="roundRect">
            <a:avLst>
              <a:gd name="adj" fmla="val 5000"/>
            </a:avLst>
          </a:prstGeom>
          <a:solidFill>
            <a:srgbClr val="1B2A4A"/>
          </a:solidFill>
          <a:ln w="12700">
            <a:solidFill>
              <a:srgbClr val="3A4A6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212080" y="3108960"/>
            <a:ext cx="1965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8FA1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406640" y="3108960"/>
            <a:ext cx="1965960" cy="1097280"/>
          </a:xfrm>
          <a:prstGeom prst="roundRect">
            <a:avLst>
              <a:gd name="adj" fmla="val 5000"/>
            </a:avLst>
          </a:prstGeom>
          <a:solidFill>
            <a:srgbClr val="1B2A4A"/>
          </a:solidFill>
          <a:ln w="12700">
            <a:solidFill>
              <a:srgbClr val="3A4A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06640" y="3108960"/>
            <a:ext cx="1965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8FA1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9601200" y="3108960"/>
            <a:ext cx="1965960" cy="1097280"/>
          </a:xfrm>
          <a:prstGeom prst="roundRect">
            <a:avLst>
              <a:gd name="adj" fmla="val 5000"/>
            </a:avLst>
          </a:prstGeom>
          <a:solidFill>
            <a:srgbClr val="1B2A4A"/>
          </a:solidFill>
          <a:ln w="12700">
            <a:solidFill>
              <a:srgbClr val="3A4A6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0" y="3108960"/>
            <a:ext cx="1965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8FA1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22960" y="4663440"/>
            <a:ext cx="10332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DB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response: </a:t>
            </a:r>
            <a:pPr indent="0" marL="0">
              <a:buNone/>
            </a:pPr>
            <a:r>
              <a:rPr lang="en-US" sz="1600" dirty="0">
                <a:solidFill>
                  <a:srgbClr val="D7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would struggle — the rooms have no meaningful labels. Similarly, computers need meaningful labels to understand webpage structure.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· What is Semantic HTML5?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HTML uses elements whose names describe their purpose. The browser immediately understands the role of each section.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4846320" cy="1051560"/>
          </a:xfrm>
          <a:prstGeom prst="roundRect">
            <a:avLst>
              <a:gd name="adj" fmla="val 6957"/>
            </a:avLst>
          </a:prstGeom>
          <a:solidFill>
            <a:srgbClr val="F4F7FB"/>
          </a:solidFill>
          <a:ln w="12700">
            <a:solidFill>
              <a:srgbClr val="D7E1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011680"/>
            <a:ext cx="42976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“This is just another container”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623560" y="2011680"/>
            <a:ext cx="6400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6DB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6400800" y="2011680"/>
            <a:ext cx="5120640" cy="1051560"/>
          </a:xfrm>
          <a:prstGeom prst="roundRect">
            <a:avLst>
              <a:gd name="adj" fmla="val 6957"/>
            </a:avLst>
          </a:prstGeom>
          <a:solidFill>
            <a:srgbClr val="1B2A4A"/>
          </a:solidFill>
          <a:ln/>
        </p:spPr>
      </p:sp>
      <p:sp>
        <p:nvSpPr>
          <p:cNvPr id="8" name="Text 6"/>
          <p:cNvSpPr/>
          <p:nvPr/>
        </p:nvSpPr>
        <p:spPr>
          <a:xfrm>
            <a:off x="6675120" y="2011680"/>
            <a:ext cx="45720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“This is the page header”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3291840"/>
            <a:ext cx="4846320" cy="1051560"/>
          </a:xfrm>
          <a:prstGeom prst="roundRect">
            <a:avLst>
              <a:gd name="adj" fmla="val 6957"/>
            </a:avLst>
          </a:prstGeom>
          <a:solidFill>
            <a:srgbClr val="F4F7FB"/>
          </a:solidFill>
          <a:ln w="12700">
            <a:solidFill>
              <a:srgbClr val="D7E1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3291840"/>
            <a:ext cx="42976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“This is just another container”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623560" y="3291840"/>
            <a:ext cx="6400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6DB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6400800" y="3291840"/>
            <a:ext cx="5120640" cy="1051560"/>
          </a:xfrm>
          <a:prstGeom prst="roundRect">
            <a:avLst>
              <a:gd name="adj" fmla="val 6957"/>
            </a:avLst>
          </a:prstGeom>
          <a:solidFill>
            <a:srgbClr val="1B2A4A"/>
          </a:solidFill>
          <a:ln/>
        </p:spPr>
      </p:sp>
      <p:sp>
        <p:nvSpPr>
          <p:cNvPr id="13" name="Text 11"/>
          <p:cNvSpPr/>
          <p:nvPr/>
        </p:nvSpPr>
        <p:spPr>
          <a:xfrm>
            <a:off x="6675120" y="3291840"/>
            <a:ext cx="45720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“This section contains the main content”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0080" y="4572000"/>
            <a:ext cx="4846320" cy="1051560"/>
          </a:xfrm>
          <a:prstGeom prst="roundRect">
            <a:avLst>
              <a:gd name="adj" fmla="val 6957"/>
            </a:avLst>
          </a:prstGeom>
          <a:solidFill>
            <a:srgbClr val="F4F7FB"/>
          </a:solidFill>
          <a:ln w="12700">
            <a:solidFill>
              <a:srgbClr val="D7E1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4572000"/>
            <a:ext cx="42976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“This is just another container”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623560" y="4572000"/>
            <a:ext cx="6400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6DB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6400800" y="4572000"/>
            <a:ext cx="5120640" cy="1051560"/>
          </a:xfrm>
          <a:prstGeom prst="roundRect">
            <a:avLst>
              <a:gd name="adj" fmla="val 6957"/>
            </a:avLst>
          </a:prstGeom>
          <a:solidFill>
            <a:srgbClr val="1B2A4A"/>
          </a:solidFill>
          <a:ln/>
        </p:spPr>
      </p:sp>
      <p:sp>
        <p:nvSpPr>
          <p:cNvPr id="18" name="Text 16"/>
          <p:cNvSpPr/>
          <p:nvPr/>
        </p:nvSpPr>
        <p:spPr>
          <a:xfrm>
            <a:off x="6675120" y="4572000"/>
            <a:ext cx="45720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“This is the navigation menu”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· Why Does Semantic HTML Matter?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C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HTML benefits everyone involved in web development.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257800" cy="2103120"/>
          </a:xfrm>
          <a:prstGeom prst="roundRect">
            <a:avLst>
              <a:gd name="adj" fmla="val 3478"/>
            </a:avLst>
          </a:prstGeom>
          <a:solidFill>
            <a:srgbClr val="F4F7FB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011680"/>
            <a:ext cx="548640" cy="548640"/>
          </a:xfrm>
          <a:prstGeom prst="ellipse">
            <a:avLst/>
          </a:prstGeom>
          <a:solidFill>
            <a:srgbClr val="3E92CC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0116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320" dirty="0"/>
          </a:p>
        </p:txBody>
      </p:sp>
      <p:sp>
        <p:nvSpPr>
          <p:cNvPr id="7" name="Text 5"/>
          <p:cNvSpPr/>
          <p:nvPr/>
        </p:nvSpPr>
        <p:spPr>
          <a:xfrm>
            <a:off x="1645920" y="1993392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Better Readability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2651760"/>
            <a:ext cx="47091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Developers understand page structure just by reading the HTML — no digging through dozens of &lt;div&gt; elements.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17920" y="1737360"/>
            <a:ext cx="5257800" cy="2103120"/>
          </a:xfrm>
          <a:prstGeom prst="roundRect">
            <a:avLst>
              <a:gd name="adj" fmla="val 3478"/>
            </a:avLst>
          </a:prstGeom>
          <a:solidFill>
            <a:srgbClr val="F4F7FB"/>
          </a:solidFill>
          <a:ln/>
        </p:spPr>
      </p:sp>
      <p:sp>
        <p:nvSpPr>
          <p:cNvPr id="10" name="Shape 8"/>
          <p:cNvSpPr/>
          <p:nvPr/>
        </p:nvSpPr>
        <p:spPr>
          <a:xfrm>
            <a:off x="6492240" y="2011680"/>
            <a:ext cx="548640" cy="548640"/>
          </a:xfrm>
          <a:prstGeom prst="ellipse">
            <a:avLst/>
          </a:prstGeom>
          <a:solidFill>
            <a:srgbClr val="3E92CC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20116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320" dirty="0"/>
          </a:p>
        </p:txBody>
      </p:sp>
      <p:sp>
        <p:nvSpPr>
          <p:cNvPr id="12" name="Text 10"/>
          <p:cNvSpPr/>
          <p:nvPr/>
        </p:nvSpPr>
        <p:spPr>
          <a:xfrm>
            <a:off x="7223760" y="1993392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Improved Accessibility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92240" y="2651760"/>
            <a:ext cx="47091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readers announce landmarks like Header, Navigation, Main Content, and Footer for visually impaired users.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4160520"/>
            <a:ext cx="5257800" cy="2103120"/>
          </a:xfrm>
          <a:prstGeom prst="roundRect">
            <a:avLst>
              <a:gd name="adj" fmla="val 3478"/>
            </a:avLst>
          </a:prstGeom>
          <a:solidFill>
            <a:srgbClr val="F4F7FB"/>
          </a:solidFill>
          <a:ln/>
        </p:spPr>
      </p:sp>
      <p:sp>
        <p:nvSpPr>
          <p:cNvPr id="15" name="Shape 13"/>
          <p:cNvSpPr/>
          <p:nvPr/>
        </p:nvSpPr>
        <p:spPr>
          <a:xfrm>
            <a:off x="914400" y="4434840"/>
            <a:ext cx="548640" cy="548640"/>
          </a:xfrm>
          <a:prstGeom prst="ellipse">
            <a:avLst/>
          </a:prstGeom>
          <a:solidFill>
            <a:srgbClr val="3E92CC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44348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320" dirty="0"/>
          </a:p>
        </p:txBody>
      </p:sp>
      <p:sp>
        <p:nvSpPr>
          <p:cNvPr id="17" name="Text 15"/>
          <p:cNvSpPr/>
          <p:nvPr/>
        </p:nvSpPr>
        <p:spPr>
          <a:xfrm>
            <a:off x="1645920" y="4416552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Better Search Understanding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14400" y="5074920"/>
            <a:ext cx="47091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engines use semantic elements to identify titles, main content, and navigation — improving indexing.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17920" y="4160520"/>
            <a:ext cx="5257800" cy="2103120"/>
          </a:xfrm>
          <a:prstGeom prst="roundRect">
            <a:avLst>
              <a:gd name="adj" fmla="val 3478"/>
            </a:avLst>
          </a:prstGeom>
          <a:solidFill>
            <a:srgbClr val="F4F7FB"/>
          </a:solidFill>
          <a:ln/>
        </p:spPr>
      </p:sp>
      <p:sp>
        <p:nvSpPr>
          <p:cNvPr id="20" name="Shape 18"/>
          <p:cNvSpPr/>
          <p:nvPr/>
        </p:nvSpPr>
        <p:spPr>
          <a:xfrm>
            <a:off x="6492240" y="4434840"/>
            <a:ext cx="548640" cy="548640"/>
          </a:xfrm>
          <a:prstGeom prst="ellipse">
            <a:avLst/>
          </a:prstGeom>
          <a:solidFill>
            <a:srgbClr val="3E92CC"/>
          </a:solidFill>
          <a:ln/>
        </p:spPr>
      </p:sp>
      <p:sp>
        <p:nvSpPr>
          <p:cNvPr id="21" name="Text 19"/>
          <p:cNvSpPr/>
          <p:nvPr/>
        </p:nvSpPr>
        <p:spPr>
          <a:xfrm>
            <a:off x="6492240" y="44348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320" dirty="0"/>
          </a:p>
        </p:txBody>
      </p:sp>
      <p:sp>
        <p:nvSpPr>
          <p:cNvPr id="22" name="Text 20"/>
          <p:cNvSpPr/>
          <p:nvPr/>
        </p:nvSpPr>
        <p:spPr>
          <a:xfrm>
            <a:off x="7223760" y="4416552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Easier Maintenance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492240" y="5074920"/>
            <a:ext cx="47091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later, semantic HTML helps developers quickly locate parts of the page — vital for team collaboration.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· The Semantic Blueprint of SignalDash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dashboard divides into logical, meaningful sections — each with a distinct responsibility.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377440" y="1600200"/>
            <a:ext cx="7406640" cy="594360"/>
          </a:xfrm>
          <a:prstGeom prst="roundRect">
            <a:avLst>
              <a:gd name="adj" fmla="val 7692"/>
            </a:avLst>
          </a:prstGeom>
          <a:solidFill>
            <a:srgbClr val="1B2A4A"/>
          </a:solidFill>
          <a:ln/>
        </p:spPr>
      </p:sp>
      <p:sp>
        <p:nvSpPr>
          <p:cNvPr id="5" name="Text 3"/>
          <p:cNvSpPr/>
          <p:nvPr/>
        </p:nvSpPr>
        <p:spPr>
          <a:xfrm>
            <a:off x="2377440" y="1600200"/>
            <a:ext cx="7406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&lt;header&gt;  —  HEADER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377440" y="2359152"/>
            <a:ext cx="7406640" cy="502920"/>
          </a:xfrm>
          <a:prstGeom prst="roundRect">
            <a:avLst>
              <a:gd name="adj" fmla="val 9091"/>
            </a:avLst>
          </a:prstGeom>
          <a:solidFill>
            <a:srgbClr val="3E92CC"/>
          </a:solidFill>
          <a:ln/>
        </p:spPr>
      </p:sp>
      <p:sp>
        <p:nvSpPr>
          <p:cNvPr id="7" name="Text 5"/>
          <p:cNvSpPr/>
          <p:nvPr/>
        </p:nvSpPr>
        <p:spPr>
          <a:xfrm>
            <a:off x="2377440" y="2359152"/>
            <a:ext cx="7406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&lt;nav&gt;  —  NAVIGATION MENU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377440" y="3026664"/>
            <a:ext cx="7406640" cy="2331720"/>
          </a:xfrm>
          <a:prstGeom prst="roundRect">
            <a:avLst>
              <a:gd name="adj" fmla="val 1961"/>
            </a:avLst>
          </a:prstGeom>
          <a:solidFill>
            <a:srgbClr val="F4F7FB"/>
          </a:solidFill>
          <a:ln w="12700">
            <a:solidFill>
              <a:srgbClr val="C7D3E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06040" y="313639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C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&lt;main&gt;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606040" y="3529584"/>
            <a:ext cx="3429000" cy="155448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C7D3E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88920" y="3648456"/>
            <a:ext cx="30632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&lt;section&gt;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Temperature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&lt;article&gt;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Sensor Card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&lt;/article&gt;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126480" y="3529584"/>
            <a:ext cx="3429000" cy="155448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C7D3E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0" y="3648456"/>
            <a:ext cx="30632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&lt;section&gt;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Pressure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&lt;article&gt;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Sensor Card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&lt;/article&gt;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2377440" y="5522976"/>
            <a:ext cx="7406640" cy="502920"/>
          </a:xfrm>
          <a:prstGeom prst="roundRect">
            <a:avLst>
              <a:gd name="adj" fmla="val 9091"/>
            </a:avLst>
          </a:prstGeom>
          <a:solidFill>
            <a:srgbClr val="1B2A4A"/>
          </a:solidFill>
          <a:ln/>
        </p:spPr>
      </p:sp>
      <p:sp>
        <p:nvSpPr>
          <p:cNvPr id="15" name="Text 13"/>
          <p:cNvSpPr/>
          <p:nvPr/>
        </p:nvSpPr>
        <p:spPr>
          <a:xfrm>
            <a:off x="2377440" y="5522976"/>
            <a:ext cx="7406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&lt;footer&gt;  —  FOOTER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6–7 · &lt;header&gt; and &lt;nav&gt;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5257800" cy="4572000"/>
          </a:xfrm>
          <a:prstGeom prst="roundRect">
            <a:avLst>
              <a:gd name="adj" fmla="val 1600"/>
            </a:avLst>
          </a:prstGeom>
          <a:solidFill>
            <a:srgbClr val="F4F7FB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6459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&lt;header&gt;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914400" y="2194560"/>
            <a:ext cx="4709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identity of the dashboard — introductory information about the application.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2971800"/>
            <a:ext cx="4709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C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Contains: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3291840"/>
            <a:ext cx="4709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Application logo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3639312"/>
            <a:ext cx="4709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Dashboard title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3986784"/>
            <a:ext cx="4709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Connection status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4334256"/>
            <a:ext cx="4709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Current user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14400" y="4681728"/>
            <a:ext cx="4709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Organization name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914400" y="5074920"/>
            <a:ext cx="4709160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C7D3E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97280" y="5321808"/>
            <a:ext cx="128016" cy="128016"/>
          </a:xfrm>
          <a:prstGeom prst="ellipse">
            <a:avLst/>
          </a:prstGeom>
          <a:solidFill>
            <a:srgbClr val="16DB93"/>
          </a:solidFill>
          <a:ln/>
        </p:spPr>
      </p:sp>
      <p:sp>
        <p:nvSpPr>
          <p:cNvPr id="14" name="Text 12"/>
          <p:cNvSpPr/>
          <p:nvPr/>
        </p:nvSpPr>
        <p:spPr>
          <a:xfrm>
            <a:off x="1325880" y="5074920"/>
            <a:ext cx="4251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SignalDash   ·   Connected   ·   Engineering Monitoring Dashboard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263640" y="1371600"/>
            <a:ext cx="5257800" cy="4572000"/>
          </a:xfrm>
          <a:prstGeom prst="roundRect">
            <a:avLst>
              <a:gd name="adj" fmla="val 1600"/>
            </a:avLst>
          </a:prstGeom>
          <a:solidFill>
            <a:srgbClr val="1B2A4A"/>
          </a:solidFill>
          <a:ln/>
        </p:spPr>
      </p:sp>
      <p:sp>
        <p:nvSpPr>
          <p:cNvPr id="16" name="Text 14"/>
          <p:cNvSpPr/>
          <p:nvPr/>
        </p:nvSpPr>
        <p:spPr>
          <a:xfrm>
            <a:off x="6537960" y="16459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&lt;nav&gt;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537960" y="2194560"/>
            <a:ext cx="4709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7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 that let users move between different views of the dashboard.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537960" y="3017520"/>
            <a:ext cx="4709160" cy="384048"/>
          </a:xfrm>
          <a:prstGeom prst="roundRect">
            <a:avLst>
              <a:gd name="adj" fmla="val 71429"/>
            </a:avLst>
          </a:prstGeom>
          <a:solidFill>
            <a:srgbClr val="121D33"/>
          </a:solidFill>
          <a:ln/>
        </p:spPr>
      </p:sp>
      <p:sp>
        <p:nvSpPr>
          <p:cNvPr id="19" name="Text 17"/>
          <p:cNvSpPr/>
          <p:nvPr/>
        </p:nvSpPr>
        <p:spPr>
          <a:xfrm>
            <a:off x="6766560" y="3017520"/>
            <a:ext cx="4343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E9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537960" y="3547872"/>
            <a:ext cx="4709160" cy="384048"/>
          </a:xfrm>
          <a:prstGeom prst="roundRect">
            <a:avLst>
              <a:gd name="adj" fmla="val 71429"/>
            </a:avLst>
          </a:prstGeom>
          <a:solidFill>
            <a:srgbClr val="121D33"/>
          </a:solidFill>
          <a:ln/>
        </p:spPr>
      </p:sp>
      <p:sp>
        <p:nvSpPr>
          <p:cNvPr id="21" name="Text 19"/>
          <p:cNvSpPr/>
          <p:nvPr/>
        </p:nvSpPr>
        <p:spPr>
          <a:xfrm>
            <a:off x="6766560" y="3547872"/>
            <a:ext cx="4343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E9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537960" y="4078224"/>
            <a:ext cx="4709160" cy="384048"/>
          </a:xfrm>
          <a:prstGeom prst="roundRect">
            <a:avLst>
              <a:gd name="adj" fmla="val 71429"/>
            </a:avLst>
          </a:prstGeom>
          <a:solidFill>
            <a:srgbClr val="121D33"/>
          </a:solidFill>
          <a:ln/>
        </p:spPr>
      </p:sp>
      <p:sp>
        <p:nvSpPr>
          <p:cNvPr id="23" name="Text 21"/>
          <p:cNvSpPr/>
          <p:nvPr/>
        </p:nvSpPr>
        <p:spPr>
          <a:xfrm>
            <a:off x="6766560" y="4078224"/>
            <a:ext cx="4343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E9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537960" y="4608576"/>
            <a:ext cx="4709160" cy="384048"/>
          </a:xfrm>
          <a:prstGeom prst="roundRect">
            <a:avLst>
              <a:gd name="adj" fmla="val 71429"/>
            </a:avLst>
          </a:prstGeom>
          <a:solidFill>
            <a:srgbClr val="121D33"/>
          </a:solidFill>
          <a:ln/>
        </p:spPr>
      </p:sp>
      <p:sp>
        <p:nvSpPr>
          <p:cNvPr id="25" name="Text 23"/>
          <p:cNvSpPr/>
          <p:nvPr/>
        </p:nvSpPr>
        <p:spPr>
          <a:xfrm>
            <a:off x="6766560" y="4608576"/>
            <a:ext cx="4343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E9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537960" y="5138928"/>
            <a:ext cx="4709160" cy="384048"/>
          </a:xfrm>
          <a:prstGeom prst="roundRect">
            <a:avLst>
              <a:gd name="adj" fmla="val 71429"/>
            </a:avLst>
          </a:prstGeom>
          <a:solidFill>
            <a:srgbClr val="121D33"/>
          </a:solidFill>
          <a:ln/>
        </p:spPr>
      </p:sp>
      <p:sp>
        <p:nvSpPr>
          <p:cNvPr id="27" name="Text 25"/>
          <p:cNvSpPr/>
          <p:nvPr/>
        </p:nvSpPr>
        <p:spPr>
          <a:xfrm>
            <a:off x="6766560" y="5138928"/>
            <a:ext cx="4343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E9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8–9 · &lt;main&gt; and &lt;section&gt;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5257800" cy="4572000"/>
          </a:xfrm>
          <a:prstGeom prst="roundRect">
            <a:avLst>
              <a:gd name="adj" fmla="val 1600"/>
            </a:avLst>
          </a:prstGeom>
          <a:solidFill>
            <a:srgbClr val="F4F7FB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6459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&lt;main&gt;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914400" y="2194560"/>
            <a:ext cx="4709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primary content area. Only one &lt;main&gt; should appear on a page — everything the user primarily interacts with lives here.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3383280"/>
            <a:ext cx="4709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Live sensor values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3767328"/>
            <a:ext cx="4709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Graphs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4151376"/>
            <a:ext cx="4709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Status indicators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4535424"/>
            <a:ext cx="4709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Engineering metrics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63640" y="1371600"/>
            <a:ext cx="5257800" cy="4572000"/>
          </a:xfrm>
          <a:prstGeom prst="roundRect">
            <a:avLst>
              <a:gd name="adj" fmla="val 1600"/>
            </a:avLst>
          </a:prstGeom>
          <a:solidFill>
            <a:srgbClr val="EAF1FA"/>
          </a:solidFill>
          <a:ln/>
        </p:spPr>
      </p:sp>
      <p:sp>
        <p:nvSpPr>
          <p:cNvPr id="11" name="Text 9"/>
          <p:cNvSpPr/>
          <p:nvPr/>
        </p:nvSpPr>
        <p:spPr>
          <a:xfrm>
            <a:off x="6537960" y="16459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&lt;section&gt;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537960" y="2194560"/>
            <a:ext cx="4709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Groups related information under a single topic — large dashboards contain many of these.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537960" y="3200400"/>
            <a:ext cx="470916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C7D3E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66560" y="3200400"/>
            <a:ext cx="4343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Monitoring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537960" y="3822192"/>
            <a:ext cx="470916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C7D3E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66560" y="3822192"/>
            <a:ext cx="4343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Pressure Monitoring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537960" y="4443984"/>
            <a:ext cx="470916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C7D3E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66560" y="4443984"/>
            <a:ext cx="4343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Humidity Monitoring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537960" y="5065776"/>
            <a:ext cx="4709160" cy="475488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2700">
            <a:solidFill>
              <a:srgbClr val="C7D3E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66560" y="5065776"/>
            <a:ext cx="43434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Voltage Monitoring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10–11 · &lt;article&gt; and &lt;footer&gt;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5257800" cy="4572000"/>
          </a:xfrm>
          <a:prstGeom prst="roundRect">
            <a:avLst>
              <a:gd name="adj" fmla="val 1600"/>
            </a:avLst>
          </a:prstGeom>
          <a:solidFill>
            <a:srgbClr val="F4F7FB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6459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&lt;article&gt;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914400" y="2194560"/>
            <a:ext cx="4709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self-contained piece of information that can stand on its own. Each sensor card is treated as an independent article.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914400" y="3246120"/>
            <a:ext cx="470916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C7D3E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43000" y="3383280"/>
            <a:ext cx="4251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Sensor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43000" y="3749040"/>
            <a:ext cx="4251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Value  ·  Maximum  ·  Minimum  ·  Status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914400" y="4663440"/>
            <a:ext cx="4709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card is meaningful even if viewed independently.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63640" y="1371600"/>
            <a:ext cx="5257800" cy="4572000"/>
          </a:xfrm>
          <a:prstGeom prst="roundRect">
            <a:avLst>
              <a:gd name="adj" fmla="val 1600"/>
            </a:avLst>
          </a:prstGeom>
          <a:solidFill>
            <a:srgbClr val="1B2A4A"/>
          </a:solidFill>
          <a:ln/>
        </p:spPr>
      </p:sp>
      <p:sp>
        <p:nvSpPr>
          <p:cNvPr id="11" name="Text 9"/>
          <p:cNvSpPr/>
          <p:nvPr/>
        </p:nvSpPr>
        <p:spPr>
          <a:xfrm>
            <a:off x="6537960" y="164592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&lt;footer&gt;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537960" y="2194560"/>
            <a:ext cx="4709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7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Closing, supplementary information about the application.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537960" y="2880360"/>
            <a:ext cx="4709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E9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System uptime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537960" y="3246120"/>
            <a:ext cx="4709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E9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Developer information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537960" y="3611880"/>
            <a:ext cx="4709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E9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Build version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537960" y="3977640"/>
            <a:ext cx="4709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E9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Copyright notice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537960" y="4343400"/>
            <a:ext cx="4709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E9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Last synchronization time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537960" y="4709160"/>
            <a:ext cx="4709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E9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System logs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 · Comparing the Two Approaches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5440680" cy="548640"/>
          </a:xfrm>
          <a:prstGeom prst="roundRect">
            <a:avLst>
              <a:gd name="adj" fmla="val 6667"/>
            </a:avLst>
          </a:prstGeom>
          <a:solidFill>
            <a:srgbClr val="5C6B85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5349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 SOUP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172200" y="1371600"/>
            <a:ext cx="5349240" cy="548640"/>
          </a:xfrm>
          <a:prstGeom prst="roundRect">
            <a:avLst>
              <a:gd name="adj" fmla="val 6667"/>
            </a:avLst>
          </a:prstGeom>
          <a:solidFill>
            <a:srgbClr val="16DB93"/>
          </a:solidFill>
          <a:ln/>
        </p:spPr>
      </p:sp>
      <p:sp>
        <p:nvSpPr>
          <p:cNvPr id="6" name="Text 4"/>
          <p:cNvSpPr/>
          <p:nvPr/>
        </p:nvSpPr>
        <p:spPr>
          <a:xfrm>
            <a:off x="6172200" y="1371600"/>
            <a:ext cx="5349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spc="100" kern="0" dirty="0">
                <a:solidFill>
                  <a:srgbClr val="12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HTML5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2029968"/>
            <a:ext cx="5349240" cy="621792"/>
          </a:xfrm>
          <a:prstGeom prst="rect">
            <a:avLst/>
          </a:prstGeom>
          <a:solidFill>
            <a:srgbClr val="F4F7FB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2029968"/>
            <a:ext cx="4983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uses &lt;div&gt;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72200" y="2029968"/>
            <a:ext cx="5349240" cy="621792"/>
          </a:xfrm>
          <a:prstGeom prst="rect">
            <a:avLst/>
          </a:prstGeom>
          <a:solidFill>
            <a:srgbClr val="F4F7FB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0" y="2029968"/>
            <a:ext cx="4983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meaningful HTML elements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2706624"/>
            <a:ext cx="5349240" cy="6217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2706624"/>
            <a:ext cx="4983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 to understand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172200" y="2706624"/>
            <a:ext cx="5349240" cy="6217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0" y="2706624"/>
            <a:ext cx="4983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to understand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3383280"/>
            <a:ext cx="5349240" cy="621792"/>
          </a:xfrm>
          <a:prstGeom prst="rect">
            <a:avLst/>
          </a:prstGeom>
          <a:solidFill>
            <a:srgbClr val="F4F7FB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3383280"/>
            <a:ext cx="4983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accessibility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172200" y="3383280"/>
            <a:ext cx="5349240" cy="621792"/>
          </a:xfrm>
          <a:prstGeom prst="rect">
            <a:avLst/>
          </a:prstGeom>
          <a:solidFill>
            <a:srgbClr val="F4F7FB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0" y="3383280"/>
            <a:ext cx="4983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 accessibility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" y="4059936"/>
            <a:ext cx="5349240" cy="6217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868680" y="4059936"/>
            <a:ext cx="4983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to maintain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172200" y="4059936"/>
            <a:ext cx="5349240" cy="6217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0" y="4059936"/>
            <a:ext cx="4983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to maintain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40080" y="4736592"/>
            <a:ext cx="5349240" cy="621792"/>
          </a:xfrm>
          <a:prstGeom prst="rect">
            <a:avLst/>
          </a:prstGeom>
          <a:solidFill>
            <a:srgbClr val="F4F7FB"/>
          </a:solidFill>
          <a:ln/>
        </p:spPr>
      </p:sp>
      <p:sp>
        <p:nvSpPr>
          <p:cNvPr id="24" name="Text 22"/>
          <p:cNvSpPr/>
          <p:nvPr/>
        </p:nvSpPr>
        <p:spPr>
          <a:xfrm>
            <a:off x="868680" y="4736592"/>
            <a:ext cx="4983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browser understanding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172200" y="4736592"/>
            <a:ext cx="5349240" cy="621792"/>
          </a:xfrm>
          <a:prstGeom prst="rect">
            <a:avLst/>
          </a:prstGeom>
          <a:solidFill>
            <a:srgbClr val="F4F7FB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0" y="4736592"/>
            <a:ext cx="4983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document structure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40080" y="5413248"/>
            <a:ext cx="5349240" cy="6217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8" name="Text 26"/>
          <p:cNvSpPr/>
          <p:nvPr/>
        </p:nvSpPr>
        <p:spPr>
          <a:xfrm>
            <a:off x="868680" y="5413248"/>
            <a:ext cx="4983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collaboration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172200" y="5413248"/>
            <a:ext cx="5349240" cy="6217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0" name="Text 28"/>
          <p:cNvSpPr/>
          <p:nvPr/>
        </p:nvSpPr>
        <p:spPr>
          <a:xfrm>
            <a:off x="6400800" y="5413248"/>
            <a:ext cx="49834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teamwork and maintainability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 · Applying Semantic HTML to SignalDash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page structure — this hierarchy clearly communicates the purpose of every part of the page.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651760" y="1600200"/>
            <a:ext cx="6858000" cy="4754880"/>
          </a:xfrm>
          <a:prstGeom prst="roundRect">
            <a:avLst>
              <a:gd name="adj" fmla="val 1154"/>
            </a:avLst>
          </a:prstGeom>
          <a:solidFill>
            <a:srgbClr val="121D33"/>
          </a:solidFill>
          <a:ln/>
        </p:spPr>
      </p:sp>
      <p:sp>
        <p:nvSpPr>
          <p:cNvPr id="5" name="Text 3"/>
          <p:cNvSpPr/>
          <p:nvPr/>
        </p:nvSpPr>
        <p:spPr>
          <a:xfrm>
            <a:off x="3017520" y="1856232"/>
            <a:ext cx="6126480" cy="429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FE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&lt;html&gt;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FE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&lt;header&gt;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FE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SignalDash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FE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Connection Status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FE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&lt;/header&gt;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FE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&lt;nav&gt;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FE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Dashboard  Reports  Alerts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FE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&lt;/nav&gt;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FE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&lt;main&gt;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FE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&lt;section&gt; Temperature Sensors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FE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&lt;article&gt; Sensor Card &lt;/article&gt;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FE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&lt;/section&gt;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FE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&lt;section&gt; Pressure Sensors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FE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&lt;article&gt; Sensor Card &lt;/article&gt;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FE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&lt;/section&gt;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FE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&lt;/main&gt;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FE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&lt;footer&gt;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FE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System Information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FE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&lt;/footer&gt;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FE0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&lt;/html&gt;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Terms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280160"/>
            <a:ext cx="5257800" cy="658368"/>
          </a:xfrm>
          <a:prstGeom prst="roundRect">
            <a:avLst>
              <a:gd name="adj" fmla="val 6944"/>
            </a:avLst>
          </a:prstGeom>
          <a:solidFill>
            <a:srgbClr val="F4F7FB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280160"/>
            <a:ext cx="1737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HTML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606040" y="1280160"/>
            <a:ext cx="3108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elements that describe the meaning of content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6263640" y="1280160"/>
            <a:ext cx="5257800" cy="658368"/>
          </a:xfrm>
          <a:prstGeom prst="roundRect">
            <a:avLst>
              <a:gd name="adj" fmla="val 6944"/>
            </a:avLst>
          </a:prstGeom>
          <a:solidFill>
            <a:srgbClr val="F4F7FB"/>
          </a:solidFill>
          <a:ln/>
        </p:spPr>
      </p:sp>
      <p:sp>
        <p:nvSpPr>
          <p:cNvPr id="7" name="Text 5"/>
          <p:cNvSpPr/>
          <p:nvPr/>
        </p:nvSpPr>
        <p:spPr>
          <a:xfrm>
            <a:off x="6446520" y="1280160"/>
            <a:ext cx="1737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&lt;header&gt;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0" y="1280160"/>
            <a:ext cx="3108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Introductory information for a page or section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2048256"/>
            <a:ext cx="5257800" cy="658368"/>
          </a:xfrm>
          <a:prstGeom prst="roundRect">
            <a:avLst>
              <a:gd name="adj" fmla="val 6944"/>
            </a:avLst>
          </a:prstGeom>
          <a:solidFill>
            <a:srgbClr val="F4F7FB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048256"/>
            <a:ext cx="1737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&lt;nav&gt;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606040" y="2048256"/>
            <a:ext cx="3108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 links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263640" y="2048256"/>
            <a:ext cx="5257800" cy="658368"/>
          </a:xfrm>
          <a:prstGeom prst="roundRect">
            <a:avLst>
              <a:gd name="adj" fmla="val 6944"/>
            </a:avLst>
          </a:prstGeom>
          <a:solidFill>
            <a:srgbClr val="F4F7FB"/>
          </a:solidFill>
          <a:ln/>
        </p:spPr>
      </p:sp>
      <p:sp>
        <p:nvSpPr>
          <p:cNvPr id="13" name="Text 11"/>
          <p:cNvSpPr/>
          <p:nvPr/>
        </p:nvSpPr>
        <p:spPr>
          <a:xfrm>
            <a:off x="6446520" y="2048256"/>
            <a:ext cx="1737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&lt;main&gt;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229600" y="2048256"/>
            <a:ext cx="3108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primary content of the page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40080" y="2816352"/>
            <a:ext cx="5257800" cy="658368"/>
          </a:xfrm>
          <a:prstGeom prst="roundRect">
            <a:avLst>
              <a:gd name="adj" fmla="val 6944"/>
            </a:avLst>
          </a:prstGeom>
          <a:solidFill>
            <a:srgbClr val="F4F7FB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2816352"/>
            <a:ext cx="1737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&lt;section&gt;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606040" y="2816352"/>
            <a:ext cx="3108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thematic grouping of related content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263640" y="2816352"/>
            <a:ext cx="5257800" cy="658368"/>
          </a:xfrm>
          <a:prstGeom prst="roundRect">
            <a:avLst>
              <a:gd name="adj" fmla="val 6944"/>
            </a:avLst>
          </a:prstGeom>
          <a:solidFill>
            <a:srgbClr val="F4F7FB"/>
          </a:solidFill>
          <a:ln/>
        </p:spPr>
      </p:sp>
      <p:sp>
        <p:nvSpPr>
          <p:cNvPr id="19" name="Text 17"/>
          <p:cNvSpPr/>
          <p:nvPr/>
        </p:nvSpPr>
        <p:spPr>
          <a:xfrm>
            <a:off x="6446520" y="2816352"/>
            <a:ext cx="1737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&lt;article&gt;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229600" y="2816352"/>
            <a:ext cx="3108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self-contained piece of content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0080" y="3584448"/>
            <a:ext cx="5257800" cy="658368"/>
          </a:xfrm>
          <a:prstGeom prst="roundRect">
            <a:avLst>
              <a:gd name="adj" fmla="val 6944"/>
            </a:avLst>
          </a:prstGeom>
          <a:solidFill>
            <a:srgbClr val="F4F7FB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" y="3584448"/>
            <a:ext cx="1737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&lt;footer&gt;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2606040" y="3584448"/>
            <a:ext cx="3108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 or supplementary information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263640" y="3584448"/>
            <a:ext cx="5257800" cy="658368"/>
          </a:xfrm>
          <a:prstGeom prst="roundRect">
            <a:avLst>
              <a:gd name="adj" fmla="val 6944"/>
            </a:avLst>
          </a:prstGeom>
          <a:solidFill>
            <a:srgbClr val="F4F7FB"/>
          </a:solidFill>
          <a:ln/>
        </p:spPr>
      </p:sp>
      <p:sp>
        <p:nvSpPr>
          <p:cNvPr id="25" name="Text 23"/>
          <p:cNvSpPr/>
          <p:nvPr/>
        </p:nvSpPr>
        <p:spPr>
          <a:xfrm>
            <a:off x="6446520" y="3584448"/>
            <a:ext cx="1737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Accessibility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229600" y="3584448"/>
            <a:ext cx="31089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Designing applications usable by everyone, including assistive-tech users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21D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 Preparation Activity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822960" y="1325880"/>
            <a:ext cx="10332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7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students a dashboard layout built entirely with nested &lt;div&gt; elements. Ask them to redesign it using &lt;header&gt;, &lt;nav&gt;, &lt;main&gt;, &lt;section&gt;, &lt;article&gt;, and &lt;footer&gt; — then discuss how the new structure is easier to read, maintain, and interpret.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22960" y="26974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6DB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LIKE AN ENGINEER — ASK YOURSELF: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22960" y="3255264"/>
            <a:ext cx="109728" cy="109728"/>
          </a:xfrm>
          <a:prstGeom prst="ellipse">
            <a:avLst/>
          </a:prstGeom>
          <a:solidFill>
            <a:srgbClr val="16DB93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3108960"/>
            <a:ext cx="9875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this content the main purpose of the page?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3730752"/>
            <a:ext cx="109728" cy="109728"/>
          </a:xfrm>
          <a:prstGeom prst="ellipse">
            <a:avLst/>
          </a:prstGeom>
          <a:solidFill>
            <a:srgbClr val="16DB93"/>
          </a:solidFill>
          <a:ln/>
        </p:spPr>
      </p:sp>
      <p:sp>
        <p:nvSpPr>
          <p:cNvPr id="8" name="Text 6"/>
          <p:cNvSpPr/>
          <p:nvPr/>
        </p:nvSpPr>
        <p:spPr>
          <a:xfrm>
            <a:off x="1143000" y="3584448"/>
            <a:ext cx="9875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this information belong in a separate section?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22960" y="4206240"/>
            <a:ext cx="109728" cy="109728"/>
          </a:xfrm>
          <a:prstGeom prst="ellipse">
            <a:avLst/>
          </a:prstGeom>
          <a:solidFill>
            <a:srgbClr val="16DB93"/>
          </a:solidFill>
          <a:ln/>
        </p:spPr>
      </p:sp>
      <p:sp>
        <p:nvSpPr>
          <p:cNvPr id="10" name="Text 8"/>
          <p:cNvSpPr/>
          <p:nvPr/>
        </p:nvSpPr>
        <p:spPr>
          <a:xfrm>
            <a:off x="1143000" y="4059936"/>
            <a:ext cx="9875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this content stand alone as an article?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22960" y="4681728"/>
            <a:ext cx="109728" cy="109728"/>
          </a:xfrm>
          <a:prstGeom prst="ellipse">
            <a:avLst/>
          </a:prstGeom>
          <a:solidFill>
            <a:srgbClr val="16DB93"/>
          </a:solidFill>
          <a:ln/>
        </p:spPr>
      </p:sp>
      <p:sp>
        <p:nvSpPr>
          <p:cNvPr id="12" name="Text 10"/>
          <p:cNvSpPr/>
          <p:nvPr/>
        </p:nvSpPr>
        <p:spPr>
          <a:xfrm>
            <a:off x="1143000" y="4535424"/>
            <a:ext cx="9875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this area meant for navigation?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22960" y="5157216"/>
            <a:ext cx="109728" cy="109728"/>
          </a:xfrm>
          <a:prstGeom prst="ellipse">
            <a:avLst/>
          </a:prstGeom>
          <a:solidFill>
            <a:srgbClr val="16DB93"/>
          </a:solidFill>
          <a:ln/>
        </p:spPr>
      </p:sp>
      <p:sp>
        <p:nvSpPr>
          <p:cNvPr id="14" name="Text 12"/>
          <p:cNvSpPr/>
          <p:nvPr/>
        </p:nvSpPr>
        <p:spPr>
          <a:xfrm>
            <a:off x="1143000" y="5010912"/>
            <a:ext cx="9875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Would another developer immediately understand this layout?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22960" y="59893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E9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build the SignalDash layout live, replacing every generic &lt;div&gt; with a semantic element.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2026-07-10T06:45:40Z</dcterms:created>
  <dcterms:modified xsi:type="dcterms:W3CDTF">2026-07-10T06:45:40Z</dcterms:modified>
</cp:coreProperties>
</file>